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A Sparse-Sensing Spatial Digital Twin for Learning Environmental Impacts of Non-Networked Appliances in a Single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4747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系所：國立彰化師範大學資訊工程學系碩士班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主題：以 8 顆角落感測器重建單房間溫度、濕度、照度場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080618"/>
            <a:ext cx="5120640" cy="2971083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研究問題與動機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問題背景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一般房間內仍存在大量非連網裝置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冷氣、窗戶、照明會改變環境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但系統通常無法直接讀到其狀態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核心挑戰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只有少量感測器，無法直接知道全室分布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裝置可能新增、移動，家具也會阻擋傳遞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模型都出現不合理結果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重建三因子空間場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學習非連網裝置對環境的影響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以 Web 與工具介面提供查詢與決策能力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系統架構</a:t>
            </a:r>
          </a:p>
        </p:txBody>
      </p:sp>
      <p:pic>
        <p:nvPicPr>
          <p:cNvPr id="5" name="Picture 4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65948"/>
            <a:ext cx="5486400" cy="31833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463040"/>
            <a:ext cx="4754880" cy="45720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入口分成使用者互動層與 AI 工具呼叫層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所有請求都先進入服務編排層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後端主體為環境數位孿生核心與校正學習層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hybrid residual 只作為 optional 第二層修正器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3577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19672" y="1453896"/>
            <a:ext cx="4572000" cy="42062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417320"/>
            <a:ext cx="45720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41732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8191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4264" y="2020824"/>
            <a:ext cx="4187952" cy="34381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房間尺寸：6 m × 4 m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感測器：地面四角 + 天花板四角，共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區域：window_zone / center_zone / door_side_zone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設備：ac_main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採樣網格：16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數學模型：變數專屬場模型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39496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39496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核心表示式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501091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Nᵥ：變數專屬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Cᵥ：由角落感測器殘差擬合的 trilinear 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溫度：熱交換、熱源、垂直分層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濕度：除濕、水氣交換、物理範圍限制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362456"/>
            <a:ext cx="53035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3035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53035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90472"/>
            <a:ext cx="49377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模型特點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1929384"/>
            <a:ext cx="49194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冷氣、窗戶、照明都是模組化裝置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家具會造成 obstacle-aware attenuation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動態響應採一階收斂近似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三個變數共用座標、設備與校正框架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nominal model 不共用同一套物理公式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推薦必須先有 sample / cluster 與三因子目標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18" y="1024128"/>
            <a:ext cx="9064602" cy="5230368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不做預測；只提供 AI 可呼叫 runtime tools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initialize：設定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sample point：查指定座標在特定時間/穩定態的三因子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 impacts：建立 before/after 觀測紀錄再學係數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window direct：直接輸入外部溫濕度、日照與開窗比例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rank actions：指定座標 sample + T/H/L 目標後才排序註冊設備操作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時間軸、播放、point sample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裝置與家具都可模組化設定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支援 hybrid estimator toggle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輸入模式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標準情境 8 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窗戶矩陣 48 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 direct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自訂家具與自訂裝置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驗證流程與比較原則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6026"/>
            <a:ext cx="5303520" cy="29002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71600"/>
            <a:ext cx="48006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E1-E3：synthetic full-field、IDW baseline、ablation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E4：非連網裝置影響學習與推薦排序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E5：window matrix 48 組外部邊界條件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E6：hybrid no-Fourier 對照與 LOO cross-validation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E7：bedroom_01 28 筆，pillow hold-out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E8 protocol、E9 public benchmark；demo 不是量化實驗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主要結果：場重建與 baseline 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38328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38328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299923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2.0835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65576"/>
            <a:ext cx="3383280" cy="2103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3383280" cy="2103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2900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9359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4032504"/>
            <a:ext cx="2999232" cy="1335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驗證情境數：8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比較項目：field / sensors / zones / IDW / recommendations</a:t>
            </a:r>
          </a:p>
        </p:txBody>
      </p:sp>
      <p:pic>
        <p:nvPicPr>
          <p:cNvPr id="15" name="Picture 1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37360"/>
            <a:ext cx="3474720" cy="3474720"/>
          </a:xfrm>
          <a:prstGeom prst="rect">
            <a:avLst/>
          </a:prstGeom>
        </p:spPr>
      </p:pic>
      <p:pic>
        <p:nvPicPr>
          <p:cNvPr id="16" name="Picture 1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737360"/>
            <a:ext cx="3474720" cy="3474720"/>
          </a:xfrm>
          <a:prstGeom prst="rect">
            <a:avLst/>
          </a:prstGeom>
        </p:spPr>
      </p:pic>
      <p:sp>
        <p:nvSpPr>
          <p:cNvPr id="1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Hybrid Residual Neural Network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457200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457200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Held-out + LOO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18795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hybrid MAE: T=0.0023, H=0.0041, L=0.1675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hybrid MAE: T=0.0022, H=0.0045, L=0.1675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hybrid MAE: T=0.0017, H=0.0055, L=0.1581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96.88%, L 92.41%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96062"/>
            <a:ext cx="5669280" cy="27113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4251960"/>
            <a:ext cx="5394960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hybrid residual 是第二層修正器，不取代主模型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LOO 結果證明標準情境 family 內殘差可學習，不代表任意房間泛化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另以 bedroom_01 真實快照檢查 sparse calibration 對 pillow 點的改善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公開資料任務拆解：SML2010 / CU-BEMS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73" y="1234440"/>
            <a:ext cx="5191932" cy="3063240"/>
          </a:xfrm>
          <a:prstGeom prst="rect">
            <a:avLst/>
          </a:prstGeom>
        </p:spPr>
      </p:pic>
      <p:pic>
        <p:nvPicPr>
          <p:cNvPr id="6" name="Picture 5" descr="cu_bems_task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433" y="1234440"/>
            <a:ext cx="5191932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617720"/>
            <a:ext cx="10607040" cy="1325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S3 是主要優勢：事件/邊界 delta 需要變化方向，structured prior 比 persistence 與 linear regression 更有用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S1 與 C2 是主要劣勢：短視窗照度高度自相關，且公開資料缺實際幾何、遮蔽與多燈具資訊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CU-BEMS C1/C3 可勝過 linear regression，但商辦 zone-level persistence 太強，不能宣稱全面勝出</a:t>
            </a:r>
          </a:p>
        </p:txBody>
      </p:sp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研究貢獻與資料策略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42416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提出以單房間、8 顆角落感測器為前提的三因子空間數位孿生原型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以變數專屬 nominal model、power calibration 與 trilinear correction 建立可解釋估測流程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以 least-squares 學習非連網裝置影響，並用 hybrid residual 做第二層修正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明確拆分 synthetic full-field、real sparse calibration、public task-aligned 與 intervention validation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完整 3D 場比較以 canonical synthetic benchmark 為主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真實臥室快照校正後 pillow MAE: T=0.1676, H=0.3939, L=21.3753</a:t>
            </a:r>
          </a:p>
          <a:p>
            <a:pPr>
              <a:lnSpc>
                <a:spcPct val="112000"/>
              </a:lnSpc>
              <a:spcAft>
                <a:spcPts val="810"/>
              </a:spcAft>
              <a:defRPr sz="1800">
                <a:solidFill>
                  <a:srgbClr val="1E2733"/>
                </a:solidFill>
                <a:latin typeface="Noto Sans TC"/>
              </a:defRPr>
            </a:pPr>
            <a:r>
              <a:rPr sz="1800" b="0">
                <a:solidFill>
                  <a:srgbClr val="1E2733"/>
                </a:solidFill>
                <a:latin typeface="Noto Sans TC"/>
              </a:rPr>
              <a:t>• 公開資料集則採 task-aligned benchmark：CU-BEMS / SML2010 / ASHRAE 各比相容子任務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有限角落感測器下仍可用分層式模型重建單房間三因子分布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非連網裝置可透過環境變化進行影響學習與校正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bedroom_01 7 天快照顯示校正後可改善未參與 fitting 的 pillow 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各資料來源支援的 claim boundary 已拆開說明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模型已能輸出區域估計、反事實推薦排序與 AI 可查詢工具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擴大 ESP32 長期真實資料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擴充 CO2 / PM2.5 等因子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改進 multi-zone / partition 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補足 dense real-room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研究遠端 MCP 與閉環控制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主張邊界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所以報告時要用「估計／推估」，不要說「量測到」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N_T、N_H、N_L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(1/|S|)Σ_{s∈S} O_T(p_s,t_ref)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(1/|S|)Σ_{s∈S} O_H(p_s,t_ref)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(1/|S|)Σ_{s∈S} O_L(p_s,t_ref)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t_ref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報告時要明確說出資料來源是哪一種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N_T(p,t) = T₀ + B_T(t) + S_T(p,t) + γ_T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B_T(t)：全室平均熱響應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S_T(p,t)：局部空間熱響應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γ_T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B_T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S_T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B_T(t) = B_ac,T(t) + B_win,T(t) + B_light,T(t)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S_T(p,t) = S_ac,T(p,t) + S_win,T(p,t) + S_light,T(p,t)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B_T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S_T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T_out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注意：燈具在溫度是熱源，在照度才是光源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B_ac,T(t) = s_m k_ac,Tᵍ d_T P_ac A_ac(t)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s_m：冷房或暖房模式符號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k_ac,Tᵍ：冷氣對全室溫度的增益係數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d_T：設定溫度與室內基準的需求差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P_ac：校正後冷氣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S_ac,T(p,t) = s_m k_ac,Tˢ d_T P_ac E_ac(p,t)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k_ac,Tˢ：冷氣局部空間增益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E_ac(p,t)：出風口附近、方向與遮蔽造成的空間權重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解讀方式：B 是全室趨勢，S 是出風口附近差異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B_win,T(t) = k_win,Tᵍ (T_out - T₀) P_win A_win(t)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S_win,T(p,t) = k_win,Tˢ (T_out - T₀) P_win E_win(p,t)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T_out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T_out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P_win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B_light,T(t) = k_light,Tᵍ P_light A_light(t)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S_light,T(p,t) = k_light,Tˢ P_light E_light(p,t)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N_H(p,t) = clip[0,100]{H₀ + B_H(t) + S_H(p,t) - γ_H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B_H(t)：全室平均水氣或除濕響應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S_H(p,t)：局部水氣交換或除濕差異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B_H(t) = -k_ac,Hᵍ d_H P_ac A_ac(t)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k_win,Hᵍ (H_out - H₀) P_win A_win(t)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H_out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S_H(p,t) = -k_ac,Hˢ d_H P_ac E_ac(p,t)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k_win,Hˢ (H_out - H₀) P_win E_win(p,t)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E_ac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E_win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N_L(p,t) = max{0, L₀ + L_winᵈⁱʳ(p,t)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L_lightᵈⁱʳ(p,t) + L_winᵃᵐᵇ(p,t)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照度由光源、窗戶、遮蔽與反射決定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L_winᵈⁱʳ(p,t) = S_out d_f k_sol P_win E_win(p,t)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S_out：室外日照強度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d_f：與時間、季節或日照方向相關的折減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k_sol：窗戶日照轉換係數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E_win：窗戶到室內點的距離、方向與遮蔽權重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L_lightᵈⁱʳ(p,t) = G_light P_light E_light(p,t)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L_winᵃᵐᵇ(p,t)：窗戶帶來的擴散環境光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G_light：燈具光通量尺度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P_light：燈具啟動或校正後影響尺度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Σ_s ρ_s Ī_s A_sʳᵉˡ exp(-||p-c_s||/ℓ_s)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n_s·r̂_s→p) V_s(p)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ρ_s：表面反射率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Ī_s：表面接收到的平均照度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限制與說法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可主張改善照度主要趨勢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不能主張達到精密光學模擬等級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 affine 多了交互項，仍保持低階可解釋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rᵛ_{abc}(t) = Oᵥ(p_{abc},t) - Nᵥ(p_{abc},t)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p_{abc}：其中一個房間角點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Σ_{a,b,c∈{0,1}} rᵛ_{abc}(t)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ℓ_a(X) ℓ_b(Y) ℓ_c(Z)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F̂ᵥ(p_{abc},t) = Oᵥ(p_{abc},t)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主張邊界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我們證明的是三線性 residual correction 的一致性與可表示範圍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所以主張是接近主要空間趨勢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不是宣稱無條件還原任意真實室內場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嚴謹主張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這不是說所有室內場都一定是三線性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而是說在三線性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對平滑但非三線性的 residual，則用誤差界描述接近程度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對突發局部熱源、光斑或遮蔽尖峰，8 點不保證捕捉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這樣的 claim boundary 比較嚴謹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誤差上界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|Rᵥ(p,t) - Cᵥ(p,t)| ≤ W²M_xx/8 + L²M_yy/8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H²M_zz/8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Rᵥ：真實 residual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Cᵥ：三線性校正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W/L/H：房間寬、長、高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如何解釋「接近」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M_xx/M_yy/M_zz 是 residual 二階曲率上界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曲率越小，代表 residual 越平滑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平滑時，8 點三線性補間誤差可被上界限制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所以可說「在平滑 residual 假設下接近真實情況」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不能說高頻局部變化也一定準確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特徵向量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φᵢ = [xᵢ,yᵢ,zᵢ,tᵢ, baseline, outdoor, F_temp,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F_hum, F_illum, activations, powers, envelopes]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φᵢ 是模型已知的情境特徵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包含位置、時間、室內外條件與設備作用強度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目標是從觀測差異學出非連網設備的影響係數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標籤定義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yᵢᵛ = F_trueᵛ(pᵢ,tᵢ) - Fᵥ(pᵢ,tᵢ)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yᵢᵛ 是主模型尚未吸收的 residual target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觀測提供設備啟用造成的差異訊號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least-squares 適合小資料、可解釋且可快速重算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若多個未知事件重疊，學到的是混合效果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F_hybridᵛ(p,t)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θᵥ：該變數 residual model 的參數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每個變數可有自己的 residual 修正器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它只修正主模型剩下的系統性誤差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這樣可保留可解釋結構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也能用資料修正不易手刻的偏差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F_trueᵛ(p,t)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F_trueᵛ：訓練或合成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 - Rᵥ(pᵢ,tᵢ;θᵥ)||²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yᵢ：truth 或觀測參考值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Σ_s w_s O_s / Σ_s w_s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w_s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O_s：感測器觀測值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為什麼拿它比較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公式、符號意義、限制與可主張範圍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 = P_before - P_after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Penalty 越大代表越偏離舒適目標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P_before：採取動作前的目標區域懲罰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P_after：反事實模擬動作後的懲罰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必須說清楚的限制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它是模型預測下的改善，不等於已證明因果效果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demo 可以呈現比較流程，但不能替代實測介入驗證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