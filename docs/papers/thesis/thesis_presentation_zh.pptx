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單房間非連網家電環境影響學習之稀疏感測空間數位孿生原型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A Sparse-Sensing Spatial Digital Twin for Learning Environmental Impacts of Non-Networked Appliances in a Single 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4937760" cy="34747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研究生：林昀佑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指導教授：易昶霈教授、沈慧宇副教授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系所：國立彰化師範大學資訊工程學系碩士班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主題：以 8 顆角落感測器重建單房間溫度、濕度、照度場</a:t>
            </a:r>
          </a:p>
        </p:txBody>
      </p:sp>
      <p:pic>
        <p:nvPicPr>
          <p:cNvPr id="7" name="Picture 6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132561"/>
            <a:ext cx="5120640" cy="2867197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研究問題與動機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問題背景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一般房間內仍存在大量非連網裝置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冷氣、窗戶、照明會改變環境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但系統通常無法直接讀到其狀態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核心挑戰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只有少量感測器，無法直接知道全室分布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裝置可能新增、移動，家具也會阻擋傳遞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早期純插值與 local-only 模型都出現不合理結果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研究目標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重建三因子空間場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學習非連網裝置對環境的影響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以 Web 與工具介面提供查詢與決策能力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系統架構</a:t>
            </a:r>
          </a:p>
        </p:txBody>
      </p:sp>
      <p:pic>
        <p:nvPicPr>
          <p:cNvPr id="5" name="Picture 4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21601"/>
            <a:ext cx="5486400" cy="3071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463040"/>
            <a:ext cx="4754880" cy="45720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top-down tree 先區分三個責任域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情境與觀測層整理房間、8 點感測與外部邊界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估測與學習層負責 T/H/L field model、校正與 residual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服務與決策層才包含 scripts、Web、MCP/Gemma 與 action ranking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房間拓樸、感測器與目標區域</a:t>
            </a:r>
          </a:p>
        </p:txBody>
      </p:sp>
      <p:pic>
        <p:nvPicPr>
          <p:cNvPr id="5" name="Picture 4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35777"/>
            <a:ext cx="5486400" cy="313508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19672" y="1453896"/>
            <a:ext cx="4572000" cy="42062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92240" y="1417320"/>
            <a:ext cx="45720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417320"/>
            <a:ext cx="45720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581912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固定設定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4264" y="2020824"/>
            <a:ext cx="4187952" cy="34381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房間尺寸：6 m × 4 m × 3 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感測器：地面四角 + 天花板四角，共 8 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區域：window_zone / center_zone / door_side_zone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設備：ac_main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採樣網格：16 × 12 × 6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數學模型：變數專屬場模型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539496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539496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53949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核心表示式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501091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Nᵥ：變數專屬 nominal model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Cᵥ：由角落感測器殘差擬合的 trilinear 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溫度：熱交換、熱源、垂直分層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濕度：除濕、水氣交換、物理範圍限制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照度：直射、環境光、一次漫反射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91072" y="1362456"/>
            <a:ext cx="53035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325880"/>
            <a:ext cx="53035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325880"/>
            <a:ext cx="53035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490472"/>
            <a:ext cx="49377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模型特點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1929384"/>
            <a:ext cx="49194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冷氣、窗戶、照明都是模組化裝置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家具會造成 obstacle-aware attenuation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動態響應採一階收斂近似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三個變數共用座標、設備與校正框架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nominal model 不共用同一套物理公式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推薦必須先有 sample / cluster 與三因子目標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模型學習、推論與推薦資料流</a:t>
            </a:r>
          </a:p>
        </p:txBody>
      </p:sp>
      <p:pic>
        <p:nvPicPr>
          <p:cNvPr id="5" name="Picture 4" descr="模型學習推論與推薦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18" y="1024128"/>
            <a:ext cx="9064602" cy="5230368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系統實作與介面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MCP：工具化介面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MCP 不做預測；只提供 AI 可呼叫 runtime tools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initialize：設定 scenario、baseline、外部邊界、設備/家具、時間與 estimator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sample point：查指定座標在特定時間/穩定態的三因子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 impacts：建立 before/after 觀測紀錄再學係數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window direct：直接輸入外部溫濕度、日照與開窗比例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rank actions：指定座標 sample + T/H/L 目標後才排序註冊設備操作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Web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可旋轉 3D 預覽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時間軸、播放、point sample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裝置與家具都可模組化設定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支援 hybrid estimator toggle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輸入模式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標準情境 8 組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窗戶矩陣 48 組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 direct input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自訂家具與自訂裝置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learn_impacts：動作如何成為資料記錄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1. start：操作狀態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device_name：ac_main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device_state：activation、kind、power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 state：mode、setpoint、fan、風向、swing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合併成 device_specs 並更新 runtime 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2. record：情境快照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learning_record_id + status=RECORDING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baseline、outdoor boundary、elapsed 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furniture / obstruction state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before_observations：sensor -&gt; T/H/L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optional note 與 sample point 預測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27101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3444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3444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39903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3. finish：轉成係數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3794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after_observations：同一批 sensors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Delta y = after - before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influence envelope 作為 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least squares 解 metric coefficients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 learned_device_impacts 與 sensor MAE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驗證流程與比較原則</a:t>
            </a:r>
          </a:p>
        </p:txBody>
      </p:sp>
      <p:pic>
        <p:nvPicPr>
          <p:cNvPr id="5" name="Picture 4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16026"/>
            <a:ext cx="5303520" cy="29002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71600"/>
            <a:ext cx="480060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E1-E3：synthetic full-field、IDW baseline、ablation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E4：非連網裝置影響學習與推薦排序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E5：window matrix 48 組外部邊界條件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E6：hybrid no-Fourier 對照與 LOO cross-validation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E7：bedroom_01 28 筆，pillow hold-out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E8 protocol、E9 public benchmark；demo 不是量化實驗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主要結果：場重建與 baseline 比較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383280" cy="18288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383280" cy="18288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3832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平均 Field MAE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2999232" cy="10607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Temperature: 0.0474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Humidity: 0.1765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Illuminance: 2.0269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" y="3465576"/>
            <a:ext cx="3383280" cy="2103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429000"/>
            <a:ext cx="3383280" cy="2103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29000"/>
            <a:ext cx="33832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59359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標準情境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3" y="4032504"/>
            <a:ext cx="2999232" cy="1335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驗證情境數：8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比較項目：field / sensors / zones / IDW / recommendations</a:t>
            </a:r>
          </a:p>
        </p:txBody>
      </p:sp>
      <p:pic>
        <p:nvPicPr>
          <p:cNvPr id="15" name="Picture 14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750872"/>
            <a:ext cx="3474720" cy="3447694"/>
          </a:xfrm>
          <a:prstGeom prst="rect">
            <a:avLst/>
          </a:prstGeom>
        </p:spPr>
      </p:pic>
      <p:pic>
        <p:nvPicPr>
          <p:cNvPr id="16" name="Picture 15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750872"/>
            <a:ext cx="3474720" cy="3447694"/>
          </a:xfrm>
          <a:prstGeom prst="rect">
            <a:avLst/>
          </a:prstGeom>
        </p:spPr>
      </p:pic>
      <p:sp>
        <p:nvSpPr>
          <p:cNvPr id="1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Hybrid Residual Neural Network 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457200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457200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45720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Held-out + LOO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418795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samples: 576 / 192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hybrid MAE: T=0.0020, H=0.0051,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No-Fourier hybrid MAE: T=0.0021, H=0.0057,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avg hybrid MAE: T=0.0017, H=0.0059, L=0.1407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reduction: T 96.41%, H 96.66%, L 93.06%</a:t>
            </a:r>
          </a:p>
        </p:txBody>
      </p:sp>
      <p:pic>
        <p:nvPicPr>
          <p:cNvPr id="10" name="Picture 9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96062"/>
            <a:ext cx="5669280" cy="271139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4251960"/>
            <a:ext cx="5394960" cy="1371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hybrid residual 是第二層修正器，不取代主模型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LOO 結果證明標準情境 family 內殘差可學習，不代表任意房間泛化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另以 bedroom_01 真實快照檢查 sparse calibration 對 pillow 點的改善</a:t>
            </a:r>
          </a:p>
        </p:txBody>
      </p:sp>
      <p:sp>
        <p:nvSpPr>
          <p:cNvPr id="12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公開資料任務拆解：SML2010 / CU-BEMS</a:t>
            </a:r>
          </a:p>
        </p:txBody>
      </p:sp>
      <p:pic>
        <p:nvPicPr>
          <p:cNvPr id="5" name="Picture 4" descr="sml2010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873" y="1234440"/>
            <a:ext cx="5191932" cy="3063240"/>
          </a:xfrm>
          <a:prstGeom prst="rect">
            <a:avLst/>
          </a:prstGeom>
        </p:spPr>
      </p:pic>
      <p:pic>
        <p:nvPicPr>
          <p:cNvPr id="6" name="Picture 5" descr="cu_bems_task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433" y="1234440"/>
            <a:ext cx="5191932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617720"/>
            <a:ext cx="10607040" cy="1325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S3 是主要優勢：事件/邊界 delta 需要變化方向，structured prior 比 persistence 與 linear regression 更有用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S1 與 C2 是主要劣勢：短視窗照度高度自相關，且公開資料缺實際幾何、遮蔽與多燈具資訊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CU-BEMS C1/C3 可勝過 linear regression，但商辦 zone-level persistence 太強，不能宣稱全面勝出</a:t>
            </a:r>
          </a:p>
        </p:txBody>
      </p:sp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研究貢獻與資料策略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42416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810"/>
              </a:spcAft>
              <a:defRPr sz="1800">
                <a:solidFill>
                  <a:srgbClr val="1E2733"/>
                </a:solidFill>
                <a:latin typeface="Noto Sans TC"/>
              </a:defRPr>
            </a:pPr>
            <a:r>
              <a:rPr sz="1800" b="0">
                <a:solidFill>
                  <a:srgbClr val="1E2733"/>
                </a:solidFill>
                <a:latin typeface="Noto Sans TC"/>
              </a:rPr>
              <a:t>• 提出以單房間、8 顆角落感測器為前提的三因子空間數位孿生原型</a:t>
            </a:r>
          </a:p>
          <a:p>
            <a:pPr>
              <a:lnSpc>
                <a:spcPct val="112000"/>
              </a:lnSpc>
              <a:spcAft>
                <a:spcPts val="810"/>
              </a:spcAft>
              <a:defRPr sz="1800">
                <a:solidFill>
                  <a:srgbClr val="1E2733"/>
                </a:solidFill>
                <a:latin typeface="Noto Sans TC"/>
              </a:defRPr>
            </a:pPr>
            <a:r>
              <a:rPr sz="1800" b="0">
                <a:solidFill>
                  <a:srgbClr val="1E2733"/>
                </a:solidFill>
                <a:latin typeface="Noto Sans TC"/>
              </a:rPr>
              <a:t>• 以變數專屬 nominal model、power calibration 與 trilinear correction 建立可解釋估測流程</a:t>
            </a:r>
          </a:p>
          <a:p>
            <a:pPr>
              <a:lnSpc>
                <a:spcPct val="112000"/>
              </a:lnSpc>
              <a:spcAft>
                <a:spcPts val="810"/>
              </a:spcAft>
              <a:defRPr sz="1800">
                <a:solidFill>
                  <a:srgbClr val="1E2733"/>
                </a:solidFill>
                <a:latin typeface="Noto Sans TC"/>
              </a:defRPr>
            </a:pPr>
            <a:r>
              <a:rPr sz="1800" b="0">
                <a:solidFill>
                  <a:srgbClr val="1E2733"/>
                </a:solidFill>
                <a:latin typeface="Noto Sans TC"/>
              </a:rPr>
              <a:t>• 以 least-squares 學習非連網裝置影響，並用 hybrid residual 做第二層修正</a:t>
            </a:r>
          </a:p>
          <a:p>
            <a:pPr>
              <a:lnSpc>
                <a:spcPct val="112000"/>
              </a:lnSpc>
              <a:spcAft>
                <a:spcPts val="810"/>
              </a:spcAft>
              <a:defRPr sz="1800">
                <a:solidFill>
                  <a:srgbClr val="1E2733"/>
                </a:solidFill>
                <a:latin typeface="Noto Sans TC"/>
              </a:defRPr>
            </a:pPr>
            <a:r>
              <a:rPr sz="1800" b="0">
                <a:solidFill>
                  <a:srgbClr val="1E2733"/>
                </a:solidFill>
                <a:latin typeface="Noto Sans TC"/>
              </a:rPr>
              <a:t>• 明確拆分 synthetic full-field、real sparse calibration、public task-aligned 與 intervention validation</a:t>
            </a:r>
          </a:p>
          <a:p>
            <a:pPr>
              <a:lnSpc>
                <a:spcPct val="112000"/>
              </a:lnSpc>
              <a:spcAft>
                <a:spcPts val="810"/>
              </a:spcAft>
              <a:defRPr sz="1800">
                <a:solidFill>
                  <a:srgbClr val="1E2733"/>
                </a:solidFill>
                <a:latin typeface="Noto Sans TC"/>
              </a:defRPr>
            </a:pPr>
            <a:r>
              <a:rPr sz="1800" b="0">
                <a:solidFill>
                  <a:srgbClr val="1E2733"/>
                </a:solidFill>
                <a:latin typeface="Noto Sans TC"/>
              </a:rPr>
              <a:t>• 完整 3D 場比較以 canonical synthetic benchmark 為主</a:t>
            </a:r>
          </a:p>
          <a:p>
            <a:pPr>
              <a:lnSpc>
                <a:spcPct val="112000"/>
              </a:lnSpc>
              <a:spcAft>
                <a:spcPts val="810"/>
              </a:spcAft>
              <a:defRPr sz="1800">
                <a:solidFill>
                  <a:srgbClr val="1E2733"/>
                </a:solidFill>
                <a:latin typeface="Noto Sans TC"/>
              </a:defRPr>
            </a:pPr>
            <a:r>
              <a:rPr sz="1800" b="0">
                <a:solidFill>
                  <a:srgbClr val="1E2733"/>
                </a:solidFill>
                <a:latin typeface="Noto Sans TC"/>
              </a:rPr>
              <a:t>• 真實臥室快照校正後 pillow MAE: T=0.1676, H=0.3939, L=16.6450</a:t>
            </a:r>
          </a:p>
          <a:p>
            <a:pPr>
              <a:lnSpc>
                <a:spcPct val="112000"/>
              </a:lnSpc>
              <a:spcAft>
                <a:spcPts val="810"/>
              </a:spcAft>
              <a:defRPr sz="1800">
                <a:solidFill>
                  <a:srgbClr val="1E2733"/>
                </a:solidFill>
                <a:latin typeface="Noto Sans TC"/>
              </a:defRPr>
            </a:pPr>
            <a:r>
              <a:rPr sz="1800" b="0">
                <a:solidFill>
                  <a:srgbClr val="1E2733"/>
                </a:solidFill>
                <a:latin typeface="Noto Sans TC"/>
              </a:rPr>
              <a:t>• 公開資料集則採 task-aligned benchmark：CU-BEMS / SML2010 / ASHRAE 各比相容子任務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結論與未來工作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499616"/>
            <a:ext cx="521208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21208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52120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結論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066544"/>
            <a:ext cx="482803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有限角落感測器下仍可用分層式模型重建單房間三因子分布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非連網裝置可透過環境變化進行影響學習與校正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bedroom_01 7 天快照顯示校正後可改善未參與 fitting 的 pillow 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各資料來源支援的驗證範圍已拆開說明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模型已能輸出區域估計、反事實推薦排序與 AI 可查詢工具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499616"/>
            <a:ext cx="521208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463040"/>
            <a:ext cx="521208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63040"/>
            <a:ext cx="52120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27632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未來工作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2066544"/>
            <a:ext cx="482803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擴大 ESP32 長期真實資料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擴充 CO2 / PM2.5 等因子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改進 multi-zone / partition 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補足 dense real-room ground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執行推薦動作 before/after 介入驗證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研究遠端 MCP 與閉環控制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1：三因子場與查詢點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場的定義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T(p,t)：位置 p、時間 t 的溫度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H(p,t)：位置 p、時間 t 的相對濕度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L(p,t)：位置 p、時間 t 的照度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 = (x,y,z)，單位為公尺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可代表啟動後時間、情境時間或 demo 時間軸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本研究不是只估單一平均值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輸出是三維空間中任意點的三個環境量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8 顆角落感測器只提供稀疏觀測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其他採樣點是由模型與校正場推估出來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其他採樣點為模型估計值，非直接量測值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數值例：p=(2,1,1.2), t=10 min → (T,H,L)=(27.4°C,60%,280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2：總估計式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v ∈ {T,H,L}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T：temperature；H：relative humidity；L：illuminance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model，描述主要物理趨勢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為什麼這樣拆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讓模型先有設備、邊界與空間結構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 讓模型對齊真實角落感測器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三個變數共用此估計框架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的物理項目分開設計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這能回應「不能把同一套 bulk/local 硬套三種物理量」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=27.0, 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=26.6°C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3：Indoor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baseline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b₀ = (T₀, H₀, L₀)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T₀：設備作用前的室內基準溫度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H₀：設備作用前的室內基準相對濕度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L₀：設備作用前的室內基準照度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若有啟動前觀測，可由 8 顆感測器平均取得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跟 baseline 比較法的差別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這裡的 baseline 是模型起始狀態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不是第 5 章的 IDW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也不是公開資料集的 persistence 或 linear regression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demo 左側 Indoor Baseline 就是在設定 T₀/H₀/L₀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所有設備影響都是在 b₀ 上加減偏移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數值例：b₀=(29°C,67%,90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4：baseline 的取得方式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有啟動前觀測時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 是 8 顆角落感測器集合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ref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是設備尚未加入作用的參考時間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沒有啟動前觀測時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改由房間設計檔、情境設定或 demo 輸入提供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例如標準房間預設 T₀=29°C、H₀=67%、L₀=90 lux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 baseline 不是模型學出來的黑盒值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它是後續設備影響與 residual correction 的共同起點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baseline 資料來源需在情境設定中明確標示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數值例：ΣT=232°C, |S|=8 → T₀=29°C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5：高度正規化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垂直座標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= z / Hᵣ - 1/2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Hᵣ：房間高度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z：查詢點高度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約落在 -0.5 到 0.5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為什麼需要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室內溫度與濕度可能存在垂直分層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冷空氣、熱源與混合程度會讓上下層不同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提供低成本的高度修正項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照度主要由光源幾何與遮蔽處理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所以高度不是三種變數完全相同地使用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數值例：z=1.2 m, Hᵣ=3 m → ζ=-0.1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6：設備 activation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時間響應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 = aⱼ(1 - exp(-t/τⱼ))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j 代表某個設備，例如冷氣、窗戶或燈具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aⱼ：設備影響的穩態比例或強度尺度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τⱼ：接近穩態所需的時間常數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越大，Aⱼ(t) 越接近 aⱼ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設備不會在啟動瞬間把全室改變到穩態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冷氣降溫、除濕與窗戶交換都需要時間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這是一階收斂近似，計算成本低且可解釋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不是完整 HVAC transient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目標是表達主要時間趨勢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數值例：a=1, t=10, τ=10 → A=1-e^-1=0.632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7：influence envelope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空間作用範圍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Eⱼ(p,t) = Aⱼ(t) Rⱼ(p) Dⱼ(p,t) Vⱼ(p)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Aⱼ(t)：設備目前啟動強度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Rⱼ(p)：距離衰減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Dⱼ(p,t)：方向性，例如冷氣出風或窗戶日照方向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Vⱼ(p)：可見性或遮蔽程度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距離衰減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 = exp(-||p - pⱼ|| / rⱼ)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pⱼ：設備位置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rⱼ：設備作用半徑或衰減尺度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距離越遠，局部影響越小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但全室平均項仍由各變數自己的 B 項處理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數值例：A=0.8,R=0.5,D=0.9,V=1 → E=0.36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8：溫度場主式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溫度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T₀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(t)：全室平均熱響應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(p,t)：局部空間熱響應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γ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M(t)ζ：垂直溫度分層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溫度受熱交換、熱源與空氣混合影響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只做局部衰減會低估冷氣的全室降溫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表示整體室溫移動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再表達出風口、窗邊或燈具附近差異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這是控制導向 reduced-order 熱場近似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數值例：29-1.2-0.5+0.2(-0.1)=27.28°C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9：溫度的全室與局部項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分解式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負責全室平均狀態改變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負責某些位置比較強的局部差異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兩者合起來避免 local-only 或 well-mixed-only 的偏誤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三類來源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冷氣：依模式與設定溫差讓室內趨冷或趨暖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窗戶：依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T₀ 表示外氣熱交換方向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燈具：在溫度路徑中視為小型熱源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燈具在溫度模型中代表發熱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這就是變數專屬公式的意義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=-1.0+0.2+0.1=-0.7°C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10：冷氣溫度項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冷氣全室項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：冷房或暖房模式符號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ᵍ：冷氣對全室溫度的增益係數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：設定溫度與室內基準的需求差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：校正後冷氣 power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冷氣局部項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ˢ：冷氣局部空間增益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(p,t)：出風口附近、方向與遮蔽造成的空間權重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 表示全室趨勢，S 表示出風口附近差異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兩者不是任意疊加，而是修正 local-only 的缺陷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數值例：s=-1,k=0.8,d=3,P=1,A=0.5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11：窗戶與燈具溫度項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窗戶熱交換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&gt; T₀ 時偏升溫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&lt; T₀ 時偏降溫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表示窗戶開啟比例或校正後影響尺度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燈具熱源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燈具在溫度模型裡只代表發熱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照明造成的 lux 變化由照度模型另外處理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這可避免把光學效果誤解成熱場效果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數值例：k=0.05,T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-T₀=4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=+0.20°C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12：濕度場主式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濕度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clip[0,100]{H₀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-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(t)：全室平均水氣或除濕響應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(p,t)：局部水氣交換或除濕差異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clip[0,100]：相對濕度限制在 0% 到 100%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相對濕度有明確物理範圍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冷氣常見效果是除濕，所以符號方向不同於溫度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窗戶則由室外濕度與室內基準濕度差決定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本研究不主張完整 psychrometric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而是用低階水氣交換近似再由 sensor residual 校正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數值例：clip[0,100](67-5+1-0.2)=62.8%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13：濕度來源項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全室濕度項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冷氣項為負：表示除濕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窗戶項正負由 H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H₀ 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外面較濕時開窗提高濕度，較乾時降低濕度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局部濕度項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讓除濕效果在冷氣影響區附近更強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讓窗邊水氣交換較強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濕度沒有使用燈具照度那套光學公式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數值例：-0.4×10×0.5 + 0.02×8=-1.84%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14：照度場主式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照度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max{0, L₀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 + Iʳᵉᶠˡ(p,t)}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max{0,...}：照度不可為負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照度由燈具光束、窗戶、遮蔽與反射決定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為什麼不同於溫濕度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照度不是空氣混合或水氣交換問題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它更接近光線幾何與可視性問題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燈具與窗戶可造成局部高照度峰值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direct source 與 obstruction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再用一次漫反射補足間接光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數值例：max(0,90+250+120+40+30)=530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15：直射光與環境光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窗戶直射光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sol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：室外日照強度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：與時間、季節或日照方向相關的折減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sol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：窗戶日照轉換係數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：窗戶到室內點的距離、方向與遮蔽權重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燈具與環境光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Φ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Φ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：由光束角推得的 cosine 方向權重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：參考距離正規化後的距離衰減；V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：遮蔽或可見性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ᵃᵐᵇ(p,t)：窗戶帶來的擴散環境光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直射與環境光分開，可描述窗邊與全室背景亮度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數值例：500×1×0.8×0.5×0.4×1=80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16：一次漫反射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反射公式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Iʳᵉᶠˡ(p,t)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ρ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Ī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ʳᵉˡ exp(-||p-c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||/ℓ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max(0, 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·r̂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→p)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s：牆、地板、天花板或家具表面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ρ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：表面反射率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Ī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：表面接收到的平均照度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一次漫反射用來補足非直射區域的回填亮度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它不是完整 ray tracing 或 radiosity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只計算一次反射，因此成本較低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主要用途是改善照度空間趨勢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不等同精密光學模擬等級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數值例：0.6×200×0.5×0.4×0.8×1=19.2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17：8 參數校正多項式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三線性形式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C(p) = c₀ + c₁X + c₂Y + c₃Z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c₄XY + c₅XZ + c₆YZ + c₇XYZ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X,Y,Z 是正規化房間座標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個係數對應 8 個角落感測器約束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係數會依變數 v 與當次感測校正狀態而定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為什麼剛好 8 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房間有地面四角與天花板四角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每個變數在同一時間有 8 個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三線性校正場也有 8 個自由度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因此可由 8 個角點唯一決定此低階校正場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但不是唯一決定任意複雜真實場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數值例：X=Y=Z=0.5 → C=0.375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18：角點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Oᵥ(p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 - Nᵥ(p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a,b,c ∈ 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：其中一個房間角點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Oᵥ：該角點感測器觀測值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 在同一角點的預測值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直覺意義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 是主模型在感測點的誤差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為正，代表模型低估該角點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為負，代表模型高估該角點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校正場 Cᵥ 的任務就是把這些角點誤差平滑帶入室內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這一步讓模型與真實稀疏感測資料對齊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=27.2,N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 → r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19：三線性校正式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Cᵥ(X,Y,Z,t)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a,b,c∈B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(X)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(Y)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(Z), B={0,1}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ℓ₀(u)=1-u，ℓ₁(u)=u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X/Y/Z 皆在 0 到 1 之間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每個內部點都是 8 個角落 residual 的加權和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重要性質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所有權重非負且總和為 1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所以這是房間內部補間，不是無限制外插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在任一角點上，對應權重為 1，其餘為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因此校正後感測器位置會與觀測一致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這是本研究 8 點推估最核心的數學基礎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數值例：中心點權重各 1/8，Σr=1.6 → C=0.2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20：校正後估計值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回到主公式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在角點：Cᵥ 等於觀測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 F̂ᵥ(p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 = Oᵥ(p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在非角點：Cᵥ 是 8 個 residual 的三線性補間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則保留設備與物理結構的空間趨勢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顆感測器不能直接量到所有點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correction 在角點與觀測一致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其他點是 nominal model 加上低階 residual 補間的估計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適用於主要空間趨勢估計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不等同無條件還原任意真實室內場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=26.8,C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21：可完全表示的 residual 空間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函數空間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𝒱 = span{1, X, Y, Z, XY, XZ, YZ, XYZ}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這個空間的維度是 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三線性函數可由 8 個角點取值唯一決定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如果真實 residual 屬於 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則 8 個角點 residual 可完全重建整個 residual 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並非所有室內場都必然三線性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假設下可完全重建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平滑但非三線性的 residual 可由誤差界描述接近程度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突發局部熱源、光斑或遮蔽尖峰需額外資料補強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此條件界定模型適用範圍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數值例：R=0.2+0.3X+0.1Y，(0.5,0.5,0)→0.40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22：平滑 residual 的誤差界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這個上界在衡量什麼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|Rᵥ-Cᵥ| ≤ W²M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xx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L²M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H²M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zz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左邊：某個未量測點的 residual 可能補錯多少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xx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≥ max|∂²Rᵥ/∂x²|：x 方向曲率上界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yy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zz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同理對應 y/z 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W/L/H 越大，補間跨度越長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為什麼會這樣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xx 表示對 x 微分兩次，不是 x×x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線性補間用端點連線近似中間曲線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若 residual 是直線，二階導數為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曲率越大，中間點越可能偏離直線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三線性補間是 x/y/z 三方向線性補間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平滑 residual 可控；尖峰或光斑需更多資料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數值例：W=6,L=4,H=3,M=(0.01,0.02,0.01) → bound≈0.096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23：非連網裝置影響學習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before/after delta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ᵃᶠᵗᵉʳ -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ᵇᵉᶠᵒʳᵉ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X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i,k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：第 i 個感測點對第 k 個裝置 envelope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≈ X 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同一筆 record 綁定裝置狀態、baseline 與 outdoor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least-squares 估計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argmin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β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||Δy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Xβ||²₂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：裝置對第 m 個因子的影響係數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X：由 influence envelope 組成的設計矩陣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before/after 觀測提供真實操作造成的差異訊號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多事件重疊時係數代表混合效果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數值例：X=[1,0.5], Δy=[-0.8,-0.4] → β=-0.8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24：Hybrid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第二層修正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hybrid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= Fᵥ(p,t) + Rᵥ(p,t; θᵥ)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Fᵥ：前面可解釋的 base estimator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Rᵥ：小型 neural network 預測的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θᵥ：該變數 residual model 的參數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每個變數可有自己的 residual 修正器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不是取代物理模型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它只修正主模型剩下的系統性誤差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這樣可保留可解釋結構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也能用資料修正不易手刻的偏差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結果代表標準情境 family 內 residual 可學習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數值例：F=27.0,R=-0.3 → F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hybrid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25：Hybrid 訓練目標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label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Rᵥ*(p,t) =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- Fᵥ(p,t)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ᵛ：訓練或合成 truth 場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Fᵥ：base estimator 輸出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Rᵥ*：希望 neural network 學到的剩餘誤差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訓練時不是直接預測整個場，而是預測 residual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損失函數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ℒ(θᵥ) = (1/N)Σᵢ ||Rᵥ*(pᵢ,tᵢ)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- Rᵥ(pᵢ,tᵢ;θᵥ)||² + λ||θᵥ||²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第一項是 residual 預測誤差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第二項是正則化，降低過擬合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溫濕度響應較平滑可低通；照度因光源/遮蔽需保留快速跳變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數值例：errors=(0.2,-0.1), λ||θ||²=0.01 → ℒ=0.035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26：MAE、RMSE 與 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誤差指標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= (1/n) Σᵢ |ŷᵢ - yᵢ|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= √[(1/n) Σᵢ (ŷᵢ - yᵢ)²]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 = cov(ŷ,y)/(σ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ŷ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ŷᵢ：模型估計值；yᵢ：truth 或觀測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n：比較樣本數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代表平均偏差，最直觀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會放大尖峰或離群誤差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Correlation 用於公開資料時序任務，檢查趨勢是否同向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三者搭配可避免只看單一指標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照度量級較大，圖表常用 log-scale 避免遮蔽溫濕度差異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數值例：ŷ=[1,2,3], y=[1,2,4] → MAE=0.33, RMSE=0.58, Corr≈0.98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27：IDW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IDW 插值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IDW(p)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/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1 / (dist(p,s) + ε)^q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s：感測器索引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q：距離權重指數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比較基準理由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是無設備物理先驗的幾何插值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它只知道感測器位置與距離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不知道冷氣出風、窗戶日照或燈具位置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若本研究優於 IDW，表示設備與空間結構有提供額外資訊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IDW 在無光源、平坦場時可能表現不差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數值例：O=(26,30), d=(1,3), q=2 → IDW≈26.4°C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28：推薦排序與驗證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推薦分數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(S)= (1/K)Σ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P(q)=Σ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max(0,(|q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-g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|-δ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)/δ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Score(a)=P(q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base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)-P(q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驗證限制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 是推薦評估的 sample scope 或目標區域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g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是目標值，δ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是容許範圍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目前推薦排序是 counterfactual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真正驗證需做 before/after intervention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比較實際 comfort penalty reduction 與預測改善是否一致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base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=30,g=26,δ=2 → P=1；q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=27 → P=0；Score=1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