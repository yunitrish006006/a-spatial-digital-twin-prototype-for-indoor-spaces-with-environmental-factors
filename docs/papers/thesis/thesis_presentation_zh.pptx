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單房間非連網家電環境影響學習之稀疏感測空間數位孿生原型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A Sparse-Sensing Spatial Digital Twin for Learning Environmental Impacts of Non-Networked Appliances in a Single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研究生：林昀佑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指導教授：易昶霈教授、沈慧宇副教授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系所：國立彰化師範大學資訊工程學系碩士班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主題：以 8 顆角落感測器重建單房間溫度、濕度、照度場</a:t>
            </a:r>
          </a:p>
        </p:txBody>
      </p:sp>
      <p:pic>
        <p:nvPicPr>
          <p:cNvPr id="6" name="Picture 5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12064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研究問題與動機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問題背景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一般房間內仍存在大量非連網裝置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冷氣、窗戶、照明會改變環境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但系統通常無法直接讀到其狀態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核心挑戰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只有少量感測器，無法直接知道全室分布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裝置可能新增、移動，家具也會阻擋傳遞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早期純插值與 local-only 模型都出現不合理結果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研究目標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重建三因子空間場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學習非連網裝置對環境的影響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以 Web 與工具介面提供查詢與決策能力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系統架構</a:t>
            </a:r>
          </a:p>
        </p:txBody>
      </p:sp>
      <p:pic>
        <p:nvPicPr>
          <p:cNvPr id="4" name="Picture 3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4864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入口分成使用者互動層與 AI 工具呼叫層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所有請求都先進入服務編排層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後端主體為環境數位孿生核心與校正學習層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hybrid residual 只作為 optional 第二層修正器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房間拓樸、感測器與目標區域</a:t>
            </a:r>
          </a:p>
        </p:txBody>
      </p:sp>
      <p:pic>
        <p:nvPicPr>
          <p:cNvPr id="4" name="Picture 3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48640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92240" y="1417320"/>
            <a:ext cx="4572000" cy="42062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固定設定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房間尺寸：6 m × 4 m × 3 m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感測器：地面四角 + 天花板四角，共 8 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區域：window_zone / center_zone / door_side_zone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設備：ac_main / window_main / light_main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採樣網格：16 × 12 ×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數學模型：變數專屬場模型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539496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核心表示式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Nᵥ：變數專屬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Cᵥ：由角落感測器殘差擬合的 trilinear 校正場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溫度：熱交換、熱源、垂直分層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濕度：除濕、水氣交換、物理範圍限制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照度：直射、環境光、一次漫反射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325880"/>
            <a:ext cx="53035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模型特點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冷氣、窗戶、照明都是模組化裝置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家具會造成 obstacle-aware attenuation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動態響應採一階收斂近似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三個變數共用座標、設備與校正框架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nominal model 不共用同一套物理公式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控制推薦在 target zone 上評分與排序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感測器校正與影響學習</a:t>
            </a:r>
          </a:p>
        </p:txBody>
      </p:sp>
      <p:pic>
        <p:nvPicPr>
          <p:cNvPr id="4" name="Picture 3" descr="感測器校正與學習流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576072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4173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先用 8 顆角落感測器比較預測值與觀測值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用殘差校準 active device power scale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再擬合 trilinear residual correction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before/after observations 另外用來學非連網裝置影響係數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系統實作與介面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MCP / Gemma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本地 stdio MCP server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提供 scenario, ranking, point sample, baseline, impacts, window tools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Gemma 透過 bridge 做 tool calling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Web Demo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可旋轉 3D 預覽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時間軸、播放、point sample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裝置與家具都可模組化設定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支援 hybrid estimator toggle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輸入模式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標準情境 8 組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窗戶矩陣 48 組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 direct input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自訂家具與自訂裝置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驗證流程與比較原則</a:t>
            </a:r>
          </a:p>
        </p:txBody>
      </p:sp>
      <p:pic>
        <p:nvPicPr>
          <p:cNvPr id="4" name="Picture 3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0352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71600"/>
            <a:ext cx="4800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E1-E3：synthetic full-field、IDW baseline、ablation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E4：非連網裝置影響學習與推薦排序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E5：window matrix 48 組外部邊界條件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E6：hybrid no-Fourier 對照與 LOO cross-validation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E7：bedroom_01 28 筆，pillow hold-out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E8 protocol、E9 public benchmark；demo 不是量化實驗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主要結果：場重建與 baseline 比較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38328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平均 Field MAE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Temperature: 0.0474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Humidity: 0.1765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Illuminance: 2.0835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429000"/>
            <a:ext cx="3383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標準情境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驗證情境數：8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比較項目：field / sensors / zones / IDW / recommendations</a:t>
            </a:r>
          </a:p>
        </p:txBody>
      </p:sp>
      <p:pic>
        <p:nvPicPr>
          <p:cNvPr id="6" name="Picture 5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3474720" cy="4297680"/>
          </a:xfrm>
          <a:prstGeom prst="rect">
            <a:avLst/>
          </a:prstGeom>
        </p:spPr>
      </p:pic>
      <p:pic>
        <p:nvPicPr>
          <p:cNvPr id="7" name="Picture 6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325880"/>
            <a:ext cx="3474720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Hybrid Residual Neural Network 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457200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Held-out + LOO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samples: 576 / 192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hybrid MAE: T=0.0023, H=0.0041,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No-Fourier hybrid MAE: T=0.0022, H=0.0045,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avg hybrid MAE: T=0.0017, H=0.0055, L=0.1581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reduction: T 96.41%, H 96.88%, L 92.41%</a:t>
            </a:r>
          </a:p>
        </p:txBody>
      </p:sp>
      <p:pic>
        <p:nvPicPr>
          <p:cNvPr id="5" name="Picture 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34440"/>
            <a:ext cx="5669280" cy="283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77840" y="425196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hybrid residual 是第二層修正器，不取代主模型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結果證明標準情境 family 內殘差可學習，不代表任意房間泛化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另以 bedroom_01 真實快照檢查 sparse calibration 對 pillow 點的改善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研究貢獻與資料策略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424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提出以單房間、8 顆角落感測器為前提的三因子空間數位孿生原型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以變數專屬 nominal model、power calibration 與 trilinear correction 建立可解釋估測流程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以 least-squares 學習非連網裝置影響，並用 hybrid residual 做第二層修正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明確拆分 synthetic full-field、real sparse calibration、public task-aligned 與 intervention validation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完整 3D 場比較以 canonical synthetic benchmark 為主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真實臥室快照校正後 pillow MAE: T=0.1676, H=0.3939, L=21.3753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公開資料集則採 task-aligned benchmark：CU-BEMS / SML2010 / ASHRAE 各比相容子任務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結論與未來工作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結論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有限角落感測器下仍可用分層式模型重建單房間三因子分布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非連網裝置可透過環境變化進行影響學習與校正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bedroom_01 7 天快照顯示校正後可改善未參與 fitting 的 pillow 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各資料來源支援的 claim boundary 已拆開說明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模型已能輸出區域估計、反事實推薦排序與 AI 可查詢工具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463040"/>
            <a:ext cx="521208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未來工作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擴大 ESP32 長期真實資料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擴充 CO2 / PM2.5 等因子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改進 multi-zone / partition 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補足 dense real-room ground truth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執行推薦動作 before/after 介入驗證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研究遠端 MCP 與閉環控制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1：三因子場與查詢點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場的定義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T(p,t)：位置 p、時間 t 的溫度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H(p,t)：位置 p、時間 t 的相對濕度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L(p,t)：位置 p、時間 t 的照度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 = (x,y,z)，單位為公尺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可代表啟動後時間、情境時間或 demo 時間軸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要跟教授說的重點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本研究不是只估單一平均值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輸出是三維空間中任意點的三個環境量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顆角落感測器只提供稀疏觀測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其他採樣點是由模型與校正場推估出來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所以報告時要用「估計／推估」，不要說「量測到」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2：總估計式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v ∈ {T,H,L}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T：temperature；H：relative humidity；L：illuminance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model，描述主要物理趨勢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為什麼這樣拆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讓模型先有設備、邊界與空間結構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 讓模型對齊真實角落感測器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三個變數共用此估計框架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N_T、N_H、N_L 的物理項目分開設計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這能回應「不能把同一套 bulk/local 硬套三種物理量」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3：Indoor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baseline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b₀ = (T₀, H₀, L₀)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T₀：設備作用前的室內基準溫度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H₀：設備作用前的室內基準相對濕度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L₀：設備作用前的室內基準照度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若有啟動前觀測，可由 8 顆感測器平均取得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跟 baseline 比較法的差別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這裡的 baseline 是模型起始狀態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不是第 5 章的 IDW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也不是公開資料集的 persistence 或 linear regression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Web demo 左側 Indoor Baseline 就是在設定 T₀/H₀/L₀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所有設備影響都是在 b₀ 上加減偏移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4：baseline 的取得方式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有啟動前觀測時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 = (1/|S|)Σ_{s∈S} O_T(p_s,t_ref)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 = (1/|S|)Σ_{s∈S} O_H(p_s,t_ref)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 = (1/|S|)Σ_{s∈S} O_L(p_s,t_ref)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 是 8 顆角落感測器集合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t_ref 是設備尚未加入作用的參考時間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沒有啟動前觀測時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改由房間設計檔、情境設定或 demo 輸入提供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例如標準房間預設 T₀=29°C、H₀=67%、L₀=90 lux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 baseline 不是模型學出來的黑盒值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它是後續設備影響與 residual correction 的共同起點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報告時要明確說出資料來源是哪一種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5：高度正規化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垂直座標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= z / Hᵣ - 1/2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Hᵣ：房間高度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z：查詢點高度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約落在 -0.5 到 0.5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為什麼需要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室內溫度與濕度可能存在垂直分層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冷空氣、熱源與混合程度會讓上下層不同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提供低成本的高度修正項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照度主要由光源幾何與遮蔽處理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所以高度不是三種變數完全相同地使用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6：設備 activation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時間響應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 = aⱼ(1 - exp(-t/τⱼ))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j 代表某個設備，例如冷氣、窗戶或燈具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aⱼ：設備影響的穩態比例或強度尺度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τⱼ：接近穩態所需的時間常數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越大，Aⱼ(t) 越接近 aⱼ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設備不會在啟動瞬間把全室改變到穩態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冷氣降溫、除濕與窗戶交換都需要時間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這是一階收斂近似，計算成本低且可解釋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不是完整 HVAC transient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目標是表達主要時間趨勢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7：influence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空間作用範圍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Eⱼ(p,t) = Aⱼ(t) Rⱼ(p) Dⱼ(p,t) Vⱼ(p)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Aⱼ(t)：設備目前啟動強度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Rⱼ(p)：距離衰減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Dⱼ(p,t)：方向性，例如冷氣出風或窗戶日照方向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Vⱼ(p)：可見性或遮蔽程度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距離衰減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 = exp(-||p - pⱼ|| / rⱼ)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pⱼ：設備位置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rⱼ：設備作用半徑或衰減尺度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距離越遠，局部影響越小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但全室平均項仍由各變數自己的 B 項處理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8：溫度場主式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溫度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N_T(p,t) = T₀ + B_T(t) + S_T(p,t) + γ_T M(t) ζ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B_T(t)：全室平均熱響應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S_T(p,t)：局部空間熱響應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γ_T M(t)ζ：垂直溫度分層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溫度受熱交換、熱源與空氣混合影響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只做局部衰減會低估冷氣的全室降溫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B_T 表示整體室溫移動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再表達出風口、窗邊或燈具附近差異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這是控制導向 reduced-order 熱場近似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9：溫度的全室與局部項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分解式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 = B_ac,T(t) + B_win,T(t) + B_light,T(t)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 = S_ac,T(p,t) + S_win,T(p,t) + S_light,T(p,t)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 負責全室平均狀態改變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負責某些位置比較強的局部差異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兩者合起來避免 local-only 或 well-mixed-only 的偏誤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三類來源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冷氣：依模式與設定溫差讓室內趨冷或趨暖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窗戶：依 T_out - T₀ 表示外氣熱交換方向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燈具：在溫度路徑中視為小型熱源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注意：燈具在溫度是熱源，在照度才是光源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這就是變數專屬公式的意義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10：冷氣溫度項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冷氣全室項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B_ac,T(t) = s_m k_ac,Tᵍ d_T P_ac A_ac(t)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s_m：冷房或暖房模式符號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k_ac,Tᵍ：冷氣對全室溫度的增益係數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d_T：設定溫度與室內基準的需求差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P_ac：校正後冷氣 power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冷氣局部項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S_ac,T(p,t) = s_m k_ac,Tˢ d_T P_ac E_ac(p,t)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k_ac,Tˢ：冷氣局部空間增益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E_ac(p,t)：出風口附近、方向與遮蔽造成的空間權重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教授問時可說：B 是全室趨勢，S 是出風口附近差異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兩者不是任意疊加，而是修正 local-only 的缺陷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11：窗戶與燈具溫度項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窗戶熱交換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B_win,T(t) = k_win,Tᵍ (T_out - T₀) P_win A_win(t)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S_win,T(p,t) = k_win,Tˢ (T_out - T₀)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&gt; T₀ 時偏升溫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&lt; T₀ 時偏降溫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P_win 表示窗戶開啟比例或校正後影響尺度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燈具熱源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B_light,T(t) = k_light,Tᵍ P_light A_light(t)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S_light,T(p,t) = k_light,Tˢ P_light E_light(p,t)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燈具在溫度模型裡只代表發熱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照明造成的 lux 變化由照度模型另外處理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這可避免把光學效果誤解成熱場效果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12：濕度場主式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濕度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N_H(p,t) = clip[0,100]{H₀ + B_H(t) + S_H(p,t) - γ_H M(t) ζ}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B_H(t)：全室平均水氣或除濕響應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S_H(p,t)：局部水氣交換或除濕差異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clip[0,100]：相對濕度限制在 0% 到 100%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相對濕度有明確物理範圍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冷氣常見效果是除濕，所以符號方向不同於溫度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窗戶則由室外濕度與室內基準濕度差決定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本研究不主張完整 psychrometric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而是用低階水氣交換近似再由 sensor residual 校正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13：濕度來源項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全室濕度項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 = -k_ac,Hᵍ d_H P_ac A_ac(t)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k_win,Hᵍ (H_out - H₀) P_win A_win(t)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冷氣項為負：表示除濕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窗戶項正負由 H_out - H₀ 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外面較濕時開窗提高濕度，較乾時降低濕度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局部濕度項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 = -k_ac,Hˢ d_H P_ac E_ac(p,t)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k_win,Hˢ (H_out - H₀)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 讓除濕效果在冷氣影響區附近更強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 讓窗邊水氣交換較強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濕度沒有使用燈具照度那套光學公式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14：照度場主式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照度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N_L(p,t) = max{0, L₀ + L_winᵈⁱʳ(p,t)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L_lightᵈⁱʳ(p,t) + L_winᵃᵐᵇ(p,t) + Iʳᵉᶠˡ(p,t)}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max{0,...}：照度不可為負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照度由光源、窗戶、遮蔽與反射決定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為什麼不同於溫濕度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照度不是空氣混合或水氣交換問題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它更接近光線幾何與可視性問題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燈具與窗戶可造成局部高照度峰值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direct source 與 obstruction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再用一次漫反射補足間接光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15：直射光與環境光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窗戶直射光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L_winᵈⁱʳ(p,t) = S_out d_f k_sol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S_out：室外日照強度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d_f：與時間、季節或日照方向相關的折減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k_sol：窗戶日照轉換係數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E_win：窗戶到室內點的距離、方向與遮蔽權重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燈具與環境光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L_lightᵈⁱʳ(p,t) = G_light P_light E_light(p,t)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L_winᵃᵐᵇ(p,t)：窗戶帶來的擴散環境光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G_light：燈具光通量尺度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P_light：燈具啟動或校正後影響尺度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直射與環境光分開，可描述窗邊與全室背景亮度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16：一次漫反射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反射公式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Iʳᵉᶠˡ(p,t) = Σ_s ρ_s Ī_s A_sʳᵉˡ exp(-||p-c_s||/ℓ_s)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max(0, n_s·r̂_s→p) V_s(p)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s：牆、地板、天花板或家具表面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ρ_s：表面反射率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Ī_s：表面接收到的平均照度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限制與說法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一次漫反射用來補足非直射區域的回填亮度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它不是完整 ray tracing 或 radiosity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只計算一次反射，因此成本較低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可主張改善照度主要趨勢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不能主張達到精密光學模擬等級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17：8 參數校正多項式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三線性形式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C(p) = c₀ + c₁X + c₂Y + c₃Z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c₄XY + c₅XZ + c₆YZ + c₇XYZ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X,Y,Z 是正規化房間座標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個係數對應 8 個角落感測器約束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 affine 多了交互項，仍保持低階可解釋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為什麼剛好 8 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房間有地面四角與天花板四角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每個變數在同一時間有 8 個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三線性校正場也有 8 個自由度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因此可由 8 個角點唯一決定此低階校正場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但不是唯一決定任意複雜真實場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18：角點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rᵛ_{abc}(t) = Oᵥ(p_{abc},t) - Nᵥ(p_{abc},t)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a,b,c ∈ {0,1}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p_{abc}：其中一個房間角點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Oᵥ：該角點感測器觀測值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 在同一角點的預測值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直覺意義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 是主模型在感測點的誤差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為正，代表模型低估該角點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為負，代表模型高估該角點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校正場 Cᵥ 的任務就是把這些角點誤差平滑帶入室內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這一步讓模型與真實稀疏感測資料對齊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19：三線性校正式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校正公式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Cᵥ(X,Y,Z,t) = Σ_{a,b,c∈{0,1}} rᵛ_{abc}(t)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ℓ_a(X) ℓ_b(Y) ℓ_c(Z)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ℓ₀(u)=1-u，ℓ₁(u)=u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X/Y/Z 皆在 0 到 1 之間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每個內部點都是 8 個角落 residual 的加權和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重要性質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所有權重非負且總和為 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所以這是房間內部補間，不是無限制外插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在任一角點上，對應權重為 1，其餘為 0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因此校正後感測器位置會與觀測一致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這是本研究 8 點推估最核心的數學基礎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20：校正後估計值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回到主公式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在角點：Cᵥ 等於觀測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 F̂ᵥ(p_{abc},t) = Oᵥ(p_{abc},t)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在非角點：Cᵥ 是 8 個 residual 的三線性補間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則保留設備與物理結構的空間趨勢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教授追問時的說法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顆感測器不能直接量到所有點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我們證明的是三線性 residual correction 的一致性與可表示範圍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其他點是 nominal model 加上低階 residual 補間的估計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所以主張是接近主要空間趨勢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不是宣稱無條件還原任意真實室內場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21：可完全表示的 residual 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函數空間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𝒱 = span{1, X, Y, Z, XY, XZ, YZ, XYZ}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這個空間的維度是 8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三線性函數可由 8 個角點取值唯一決定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如果真實 residual 屬於 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則 8 個角點 residual 可完全重建整個 residual 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嚴謹主張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這不是說所有室內場都一定是三線性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而是說在三線性 residual 假設下可完全重建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對平滑但非三線性的 residual，則用誤差界描述接近程度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對突發局部熱源、光斑或遮蔽尖峰，8 點不保證捕捉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這樣的 claim boundary 比較嚴謹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22：平滑 residual 的誤差界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誤差上界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|Rᵥ(p,t) - Cᵥ(p,t)| ≤ W²M_xx/8 + L²M_yy/8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H²M_zz/8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Rᵥ：真實 residual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Cᵥ：三線性校正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W/L/H：房間寬、長、高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如何解釋「接近」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M_xx/M_yy/M_zz 是 residual 二階曲率上界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曲率越小，代表 residual 越平滑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平滑時，8 點三線性補間誤差可被上界限制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所以可說「在平滑 residual 假設下接近真實情況」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不能說高頻局部變化也一定準確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23：非連網裝置影響學習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特徵向量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= [xᵢ,yᵢ,zᵢ,tᵢ, baseline, outdoor, F_temp,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F_hum, F_illum, activations, powers, envelopes]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是模型已知的情境特徵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包含位置、時間、室內外條件與設備作用強度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目標是從觀測差異學出非連網設備的影響係數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標籤定義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= F_trueᵛ(pᵢ,tᵢ) - Fᵥ(pᵢ,tᵢ)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是主模型尚未吸收的 residual target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before/after 觀測提供設備啟用造成的差異訊號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least-squares 適合小資料、可解釋且可快速重算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若多個未知事件重疊，學到的是混合效果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24：Hybrid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第二層修正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F_hybridᵛ(p,t) = Fᵥ(p,t) + Rᵥ(p,t; θᵥ)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Fᵥ：前面可解釋的 base estimator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Rᵥ：小型 neural network 預測的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θᵥ：該變數 residual model 的參數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每個變數可有自己的 residual 修正器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定位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不是取代物理模型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它只修正主模型剩下的系統性誤差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這樣可保留可解釋結構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也能用資料修正不易手刻的偏差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結果代表標準情境 family 內 residual 可學習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25：Hybrid 訓練目標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label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Rᵥ*(p,t) = F_trueᵛ(p,t) - Fᵥ(p,t)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F_trueᵛ：訓練或合成 truth 場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Fᵥ：base estimator 輸出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Rᵥ*：希望 neural network 學到的剩餘誤差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訓練時不是直接預測整個場，而是預測 residual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損失函數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ℒ(θᵥ) = (1/N)Σᵢ ||Rᵥ* - Rᵥ(pᵢ,tᵢ;θᵥ)||²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λ||θᵥ||²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第一項是 residual 預測誤差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第二項是正則化，降低過擬合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溫度/濕度可做 Fourier low-pass；照度保留快速跳變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26：MAE、RMSE 與 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誤差指標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= (1/n) Σᵢ |ŷᵢ - yᵢ|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= √[(1/n) Σᵢ (ŷᵢ - yᵢ)²]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ŷᵢ：模型估計值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yᵢ：truth 或觀測參考值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n：比較樣本數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代表平均偏差，最直觀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會放大尖峰或離群誤差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Correlation 用於公開資料時序任務，檢查趨勢是否同向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三者搭配可避免只看單一指標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照度量級較大，圖表常用 log-scale 避免遮蔽溫濕度差異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27：IDW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IDW 插值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IDW(p) = Σ_s w_s O_s / Σ_s w_s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w_s = 1 / (dist(p,s) + ε)^q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s：感測器索引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O_s：感測器觀測值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q：距離權重指數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為什麼拿它比較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 是無設備物理先驗的幾何插值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它只知道感測器位置與距離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不知道冷氣出風、窗戶日照或燈具位置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若本研究優於 IDW，表示設備與空間結構有提供額外資訊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IDW 在無光源、平坦場時可能表現不差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28：推薦排序與驗證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推薦分數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Score(a) = P_before - P_after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Penalty 越大代表越偏離舒適目標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P_before：採取動作前的目標區域懲罰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P_after：反事實模擬動作後的懲罰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必須說清楚的限制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目前推薦排序是 counterfactual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它是模型預測下的改善，不等於已證明因果效果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真正驗證需做 before/after intervention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比較實際 comfort penalty reduction 與預測改善是否一致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demo 可以呈現比較流程，但不能替代實測介入驗證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