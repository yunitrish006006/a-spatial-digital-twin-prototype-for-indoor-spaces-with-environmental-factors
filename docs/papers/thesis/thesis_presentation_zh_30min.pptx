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單房間非連網家電環境影響學習之稀疏感測空間數位孿生原型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論文口試簡報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2028"/>
                </a:solidFill>
                <a:latin typeface="Noto Sans TC"/>
              </a:defRPr>
            </a:pPr>
            <a:r>
              <a:rPr sz="2000" b="0">
                <a:solidFill>
                  <a:srgbClr val="192028"/>
                </a:solidFill>
                <a:latin typeface="Noto Sans TC"/>
              </a:rPr>
              <a:t>研究生：林昀佑</a:t>
            </a:r>
          </a:p>
          <a:p>
            <a:pPr>
              <a:spcAft>
                <a:spcPts val="800"/>
              </a:spcAft>
              <a:defRPr sz="2000">
                <a:solidFill>
                  <a:srgbClr val="192028"/>
                </a:solidFill>
                <a:latin typeface="Noto Sans TC"/>
              </a:defRPr>
            </a:pPr>
            <a:r>
              <a:rPr sz="2000" b="0">
                <a:solidFill>
                  <a:srgbClr val="192028"/>
                </a:solidFill>
                <a:latin typeface="Noto Sans TC"/>
              </a:rPr>
              <a:t>指導教授：易昶霈教授、沈慧宇副教授</a:t>
            </a:r>
          </a:p>
          <a:p>
            <a:pPr>
              <a:spcAft>
                <a:spcPts val="800"/>
              </a:spcAft>
              <a:defRPr sz="2000">
                <a:solidFill>
                  <a:srgbClr val="192028"/>
                </a:solidFill>
                <a:latin typeface="Noto Sans TC"/>
              </a:defRPr>
            </a:pPr>
            <a:r>
              <a:rPr sz="2000" b="0">
                <a:solidFill>
                  <a:srgbClr val="192028"/>
                </a:solidFill>
                <a:latin typeface="Noto Sans TC"/>
              </a:rPr>
              <a:t>國立彰化師範大學資訊工程學系碩士班</a:t>
            </a:r>
          </a:p>
          <a:p>
            <a:pPr>
              <a:spcAft>
                <a:spcPts val="800"/>
              </a:spcAft>
              <a:defRPr sz="2000">
                <a:solidFill>
                  <a:srgbClr val="192028"/>
                </a:solidFill>
                <a:latin typeface="Noto Sans TC"/>
              </a:defRPr>
            </a:pPr>
            <a:r>
              <a:rPr sz="2000" b="0">
                <a:solidFill>
                  <a:srgbClr val="192028"/>
                </a:solidFill>
                <a:latin typeface="Noto Sans TC"/>
              </a:rPr>
              <a:t>主題：單房間三因子數位孿生、非連網裝置影響學習、工具化服務介面</a:t>
            </a:r>
          </a:p>
        </p:txBody>
      </p:sp>
      <p:pic>
        <p:nvPicPr>
          <p:cNvPr id="6" name="Picture 5" descr="整體分層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120640" cy="4389120"/>
          </a:xfrm>
          <a:prstGeom prst="rect">
            <a:avLst/>
          </a:prstGeom>
        </p:spPr>
      </p:pic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報告流程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92028"/>
                </a:solidFill>
                <a:latin typeface="Noto Sans TC"/>
              </a:defRPr>
            </a:pPr>
            <a:r>
              <a:rPr sz="2100" b="0">
                <a:solidFill>
                  <a:srgbClr val="192028"/>
                </a:solidFill>
                <a:latin typeface="Noto Sans TC"/>
              </a:rPr>
              <a:t>1. 問題背景與研究動機</a:t>
            </a:r>
          </a:p>
          <a:p>
            <a:pPr>
              <a:spcAft>
                <a:spcPts val="800"/>
              </a:spcAft>
              <a:defRPr sz="2100">
                <a:solidFill>
                  <a:srgbClr val="192028"/>
                </a:solidFill>
                <a:latin typeface="Noto Sans TC"/>
              </a:defRPr>
            </a:pPr>
            <a:r>
              <a:rPr sz="2100" b="0">
                <a:solidFill>
                  <a:srgbClr val="192028"/>
                </a:solidFill>
                <a:latin typeface="Noto Sans TC"/>
              </a:rPr>
              <a:t>2. 文獻定位與研究缺口</a:t>
            </a:r>
          </a:p>
          <a:p>
            <a:pPr>
              <a:spcAft>
                <a:spcPts val="800"/>
              </a:spcAft>
              <a:defRPr sz="2100">
                <a:solidFill>
                  <a:srgbClr val="192028"/>
                </a:solidFill>
                <a:latin typeface="Noto Sans TC"/>
              </a:defRPr>
            </a:pPr>
            <a:r>
              <a:rPr sz="2100" b="0">
                <a:solidFill>
                  <a:srgbClr val="192028"/>
                </a:solidFill>
                <a:latin typeface="Noto Sans TC"/>
              </a:rPr>
              <a:t>3. 系統架構與數學模型</a:t>
            </a:r>
          </a:p>
          <a:p>
            <a:pPr>
              <a:spcAft>
                <a:spcPts val="800"/>
              </a:spcAft>
              <a:defRPr sz="2100">
                <a:solidFill>
                  <a:srgbClr val="192028"/>
                </a:solidFill>
                <a:latin typeface="Noto Sans TC"/>
              </a:defRPr>
            </a:pPr>
            <a:r>
              <a:rPr sz="2100" b="0">
                <a:solidFill>
                  <a:srgbClr val="192028"/>
                </a:solidFill>
                <a:latin typeface="Noto Sans TC"/>
              </a:rPr>
              <a:t>4. 感測器校正、影響學習與 hybrid residual</a:t>
            </a:r>
          </a:p>
          <a:p>
            <a:pPr>
              <a:spcAft>
                <a:spcPts val="800"/>
              </a:spcAft>
              <a:defRPr sz="2100">
                <a:solidFill>
                  <a:srgbClr val="192028"/>
                </a:solidFill>
                <a:latin typeface="Noto Sans TC"/>
              </a:defRPr>
            </a:pPr>
            <a:r>
              <a:rPr sz="2100" b="0">
                <a:solidFill>
                  <a:srgbClr val="192028"/>
                </a:solidFill>
                <a:latin typeface="Noto Sans TC"/>
              </a:rPr>
              <a:t>5. 實作系統、驗證設計與實驗結果</a:t>
            </a:r>
          </a:p>
          <a:p>
            <a:pPr>
              <a:spcAft>
                <a:spcPts val="800"/>
              </a:spcAft>
              <a:defRPr sz="2100">
                <a:solidFill>
                  <a:srgbClr val="192028"/>
                </a:solidFill>
                <a:latin typeface="Noto Sans TC"/>
              </a:defRPr>
            </a:pPr>
            <a:r>
              <a:rPr sz="2100" b="0">
                <a:solidFill>
                  <a:srgbClr val="192028"/>
                </a:solidFill>
                <a:latin typeface="Noto Sans TC"/>
              </a:rPr>
              <a:t>6. 結論、限制、未來工作與公式整理</a:t>
            </a:r>
          </a:p>
        </p:txBody>
      </p:sp>
      <p:sp>
        <p:nvSpPr>
          <p:cNvPr id="5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研究主軸與輸入輸出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060704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研究主軸</a:t>
            </a:r>
          </a:p>
          <a:p>
            <a:pPr>
              <a:spcAft>
                <a:spcPts val="300"/>
              </a:spcAft>
              <a:defRPr sz="1500">
                <a:solidFill>
                  <a:srgbClr val="192028"/>
                </a:solidFill>
                <a:latin typeface="Noto Sans TC"/>
              </a:defRPr>
            </a:pPr>
            <a:r>
              <a:rPr sz="1500" b="0">
                <a:solidFill>
                  <a:srgbClr val="192028"/>
                </a:solidFill>
                <a:latin typeface="Noto Sans TC"/>
              </a:rPr>
              <a:t>少量角落感測 + 非連網家電 + 單房間幾何配置 → 可解釋、可校正、可學習的三因子空間場估計與決策支援。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333756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輸入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房間尺寸、裝置/家具配置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8 顆角落感測器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室內 baseline 與外部邊界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時間、設備狀態、使用者目標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3063240"/>
            <a:ext cx="333756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模型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溫度、濕度、照度各自的 nominal model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power calibration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trilinear residual correction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optional hybrid residual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306324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輸出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任意點/區域三因子估計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3D 視覺化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非連網裝置影響係數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反事實推薦排序與 MCP 查詢</a:t>
            </a:r>
          </a:p>
        </p:txBody>
      </p:sp>
      <p:sp>
        <p:nvSpPr>
          <p:cNvPr id="8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研究背景與問題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347472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房間場景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真實房間通常只有少量感測器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但使用者關心的是整個空間的舒適度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不是單一點位數值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25880"/>
            <a:ext cx="347472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非連網裝置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冷氣、窗戶、照明常無 API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狀態不可直接讀取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卻持續改變溫度、濕度、照度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25880"/>
            <a:ext cx="347472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核心需求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重建全室三因子分布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學習裝置對環境的影響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在 sample/cluster + 三因子目標下支援推薦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研究問題與貢獻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512064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研究問題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RQ1：8 顆角落感測器能否重建單房間三因子空間場？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RQ2：能否從環境資料學習非連網裝置影響？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RQ3：sample/cluster 與三因子目標下能否排序控制動作？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RQ4：能否將模型封裝成 MCP 可查詢工具？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325880"/>
            <a:ext cx="539496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主要貢獻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single-room three-factor spatial digital twin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power calibration + trilinear residual correction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non-networked appliance impact learning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hybrid residual + Fourier denoising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task-aligned public benchmark strategy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MCP / Gemma / Web 可互動原型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文獻定位、研究缺口與比較原則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347472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已有研究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房間尺度 IEQ 實驗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有限感測器場重建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hybrid thermal model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建築 digital twin 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25880"/>
            <a:ext cx="347472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常見不足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多只看熱環境或單雙因子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少處理非連網裝置學習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少將模型做成 AI 可查詢工具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多半不是單房間低成本原型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25880"/>
            <a:ext cx="347472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本研究定位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single-room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limited corner sensors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temperature + humidity + illuminance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control-oriented + MCP-accessible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public datasets only for aligned subtasks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整體系統架構</a:t>
            </a:r>
          </a:p>
        </p:txBody>
      </p:sp>
      <p:pic>
        <p:nvPicPr>
          <p:cNvPr id="4" name="Picture 3" descr="整體分層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66928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137160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入口區分為人機互動層與 AI 工具呼叫層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所有請求經服務編排後進入環境數位孿生核心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校正與影響學習層負責修正稀疏感測誤差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輸出為空間場估測、區域估測、動作排序與 3D 視覺化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主要執行資料流</a:t>
            </a:r>
          </a:p>
        </p:txBody>
      </p:sp>
      <p:pic>
        <p:nvPicPr>
          <p:cNvPr id="4" name="Picture 3" descr="主要執行資料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39496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5080" y="1325880"/>
            <a:ext cx="4800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scenario 或 direct input 先進入 service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套用 indoor baseline、裝置、家具與時間設定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再做場估測、感測器校正與 dashboard 輸出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MCP 和 Web 都走同一條執行路徑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房間拓樸、感測器與目標區域</a:t>
            </a:r>
          </a:p>
        </p:txBody>
      </p:sp>
      <p:pic>
        <p:nvPicPr>
          <p:cNvPr id="4" name="Picture 3" descr="房間感測器與目標區域配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486400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46520" y="1325880"/>
            <a:ext cx="470916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固定研究設定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房間：6 × 4 × 3 m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感測器：floor/ceiling 四角，共 8 顆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區域：window / center / door-side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核心裝置：ac_main / window_main / light_main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解析度：16 × 12 × 6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模組化裝置與家具阻擋</a:t>
            </a:r>
          </a:p>
        </p:txBody>
      </p:sp>
      <p:pic>
        <p:nvPicPr>
          <p:cNvPr id="4" name="Picture 3" descr="可模組化裝置與家具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39496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5080" y="1325880"/>
            <a:ext cx="4800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冷氣、窗戶、燈都可視為模組化裝置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家具是可開關、可移動的阻擋物件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阻擋效果會依幾何位置自適應調整</a:t>
            </a:r>
          </a:p>
          <a:p>
            <a:pPr>
              <a:spcAft>
                <a:spcPts val="800"/>
              </a:spcAft>
              <a:defRPr sz="1700">
                <a:solidFill>
                  <a:srgbClr val="192028"/>
                </a:solidFill>
                <a:latin typeface="Noto Sans TC"/>
              </a:defRPr>
            </a:pPr>
            <a:r>
              <a:rPr sz="1700" b="0">
                <a:solidFill>
                  <a:srgbClr val="192028"/>
                </a:solidFill>
                <a:latin typeface="Noto Sans TC"/>
              </a:rPr>
              <a:t>Web 端可新增 custom devices 與 custom furniture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數學模型：變數專屬 nominal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548640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核心形式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F̂ᵥ(p,t) = Nᵥ(p,t) + Cᵥ(p,t)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Nᵥ：溫度、濕度、照度各自的 nominal model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Cᵥ：8 顆角落感測器建立的 residual correction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溫度處理熱交換與垂直分層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濕度處理除濕與外氣水氣交換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照度處理光源幾何、遮蔽與反射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80160"/>
            <a:ext cx="475488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設計理由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避免只有冷氣附近變冷、全室仍近乎不變的不合理情況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早期純插值與 local-only 版本都失敗過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避免把同一組 bulk/local 公式硬套到三種物理量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比 CFD 輕量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比純插值更可解釋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適合控制導向與即時服務化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方法選擇：為什麼不是純插值、純物理或純黑盒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352044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純插值不足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IDW 只看距離與感測點數值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不知道冷氣出風口、窗戶方向、燈具位置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照度與局部熱區容易被抹平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適合作 baseline，不適合作主模型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25880"/>
            <a:ext cx="352044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完整物理太重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CFD / ray tracing 需要更多邊界條件與計算成本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一般房間很難取得精確材質、風場與設備曲線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本研究目標是控制導向與即時服務化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因此採 reduced-order nominal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25880"/>
            <a:ext cx="347472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純黑盒風險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小資料下容易過擬合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難解釋設備、邊界與空間位置的作用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hybrid residual 只學剩餘誤差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保留主模型的可解釋結構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模型學習、推論與推薦資料流</a:t>
            </a:r>
          </a:p>
        </p:txBody>
      </p:sp>
      <p:pic>
        <p:nvPicPr>
          <p:cNvPr id="4" name="Picture 3" descr="模型學習推論與推薦資料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84280" cy="5257800"/>
          </a:xfrm>
          <a:prstGeom prst="rect">
            <a:avLst/>
          </a:prstGeom>
        </p:spPr>
      </p:pic>
      <p:sp>
        <p:nvSpPr>
          <p:cNvPr id="5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系統實作與介面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352044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MCP：工具化介面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MCP 不做預測；核心模型負責場估計、校正與排序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initialize：註冊 scenario、baseline、外部邊界、設備/家具、時間與 estimator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sample point：補足非感測點、可指定 elapsed/steady state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learn impacts：start/finish before-after record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window direct：輸入外部資料，不走 48 組 preset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rank actions：以指定座標 sample 與 T/H/L 目標評估註冊設備操作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25880"/>
            <a:ext cx="352044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Gemma / Ollama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Gemma 透過 bridge 做 tool calling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MCP 支援來自主機與 runtime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不是宣稱模型原生支援 MCP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25880"/>
            <a:ext cx="347472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Web Demo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可旋轉 3D 預覽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時間軸與播放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裝置/家具模組化調整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hybrid estimator toggle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驗證設計</a:t>
            </a:r>
          </a:p>
        </p:txBody>
      </p:sp>
      <p:pic>
        <p:nvPicPr>
          <p:cNvPr id="4" name="Picture 3" descr="驗證與實驗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4864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258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028"/>
                </a:solidFill>
                <a:latin typeface="Noto Sans TC"/>
              </a:defRPr>
            </a:pPr>
            <a:r>
              <a:rPr sz="1600" b="0">
                <a:solidFill>
                  <a:srgbClr val="192028"/>
                </a:solidFill>
                <a:latin typeface="Noto Sans TC"/>
              </a:rPr>
              <a:t>E1-E3：truth-adjusted simulation、IDW、synthetic ablation</a:t>
            </a:r>
          </a:p>
          <a:p>
            <a:pPr>
              <a:spcAft>
                <a:spcPts val="800"/>
              </a:spcAft>
              <a:defRPr sz="1600">
                <a:solidFill>
                  <a:srgbClr val="192028"/>
                </a:solidFill>
                <a:latin typeface="Noto Sans TC"/>
              </a:defRPr>
            </a:pPr>
            <a:r>
              <a:rPr sz="1600" b="0">
                <a:solidFill>
                  <a:srgbClr val="192028"/>
                </a:solidFill>
                <a:latin typeface="Noto Sans TC"/>
              </a:rPr>
              <a:t>E4-E6：裝置影響學習、48 組 window matrix、hybrid no-Fourier/LOO</a:t>
            </a:r>
          </a:p>
          <a:p>
            <a:pPr>
              <a:spcAft>
                <a:spcPts val="800"/>
              </a:spcAft>
              <a:defRPr sz="1600">
                <a:solidFill>
                  <a:srgbClr val="192028"/>
                </a:solidFill>
                <a:latin typeface="Noto Sans TC"/>
              </a:defRPr>
            </a:pPr>
            <a:r>
              <a:rPr sz="1600" b="0">
                <a:solidFill>
                  <a:srgbClr val="192028"/>
                </a:solidFill>
                <a:latin typeface="Noto Sans TC"/>
              </a:rPr>
              <a:t>E7：bedroom_01 28 筆快照與 pillow 位置比較</a:t>
            </a:r>
          </a:p>
          <a:p>
            <a:pPr>
              <a:spcAft>
                <a:spcPts val="800"/>
              </a:spcAft>
              <a:defRPr sz="1600">
                <a:solidFill>
                  <a:srgbClr val="192028"/>
                </a:solidFill>
                <a:latin typeface="Noto Sans TC"/>
              </a:defRPr>
            </a:pPr>
            <a:r>
              <a:rPr sz="1600" b="0">
                <a:solidFill>
                  <a:srgbClr val="192028"/>
                </a:solidFill>
                <a:latin typeface="Noto Sans TC"/>
              </a:rPr>
              <a:t>E8：推薦動作 before/after intervention protocol</a:t>
            </a:r>
          </a:p>
          <a:p>
            <a:pPr>
              <a:spcAft>
                <a:spcPts val="800"/>
              </a:spcAft>
              <a:defRPr sz="1600">
                <a:solidFill>
                  <a:srgbClr val="192028"/>
                </a:solidFill>
                <a:latin typeface="Noto Sans TC"/>
              </a:defRPr>
            </a:pPr>
            <a:r>
              <a:rPr sz="1600" b="0">
                <a:solidFill>
                  <a:srgbClr val="192028"/>
                </a:solidFill>
                <a:latin typeface="Noto Sans TC"/>
              </a:rPr>
              <a:t>E9：public datasets 僅作 task-aligned benchmark</a:t>
            </a:r>
          </a:p>
          <a:p>
            <a:pPr>
              <a:spcAft>
                <a:spcPts val="800"/>
              </a:spcAft>
              <a:defRPr sz="1600">
                <a:solidFill>
                  <a:srgbClr val="192028"/>
                </a:solidFill>
                <a:latin typeface="Noto Sans TC"/>
              </a:defRPr>
            </a:pPr>
            <a:r>
              <a:rPr sz="1600" b="0">
                <a:solidFill>
                  <a:srgbClr val="192028"/>
                </a:solidFill>
                <a:latin typeface="Noto Sans TC"/>
              </a:rPr>
              <a:t>Web demo 與 3D 展示是呈現層，不列為量化實驗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證據鏈與 Claim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27432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Synthetic full-field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支援完整 3D 場誤差比較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可比較 IDW、base、ablation、hybrid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限制：truth 仍來自受控生成與調整，不等同長期真實場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0440" y="1234440"/>
            <a:ext cx="274320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Real-bedroom snapshot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支援稀疏感測校正的真實點位檢查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pillow hold-out 不參與 fitting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限制：不是 dense real-room ground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1234440"/>
            <a:ext cx="260604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Public datasets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支援相容子任務比較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SML2010 / CU-BEMS 只做 task-aligned benchmark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限制：缺單房間幾何與 8 點拓樸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1234440"/>
            <a:ext cx="2468880" cy="48006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Recommendation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目前可做反事實排序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E8 定義介入驗證 protocol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限制：尚未完成真實 before/after 因果驗證</a:t>
            </a:r>
          </a:p>
        </p:txBody>
      </p:sp>
      <p:sp>
        <p:nvSpPr>
          <p:cNvPr id="8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情境設計與輸入模式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347472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標準情境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idle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ac_only / window_only / light_only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ac_window / window_light / ac_light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all_active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25880"/>
            <a:ext cx="347472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窗戶模式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四季 × 天氣 × 時段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matrix evaluation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也支援 direct outdoor input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可分析窗邊區與中心區差異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25880"/>
            <a:ext cx="347472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時間軸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所有 scenario 都有 elapsed time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近似一階動態收斂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Web 端可播放到 quasi-steady state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主要量化結果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329184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平均 Field MAE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Temperature: 0.0474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Humidity: 0.1765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Illuminance: 2.0835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383280"/>
            <a:ext cx="329184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IDW 比較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IDW 可做 baseline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但缺設備位置與方向資訊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照度與局部熱區重建效果明顯較差</a:t>
            </a:r>
          </a:p>
        </p:txBody>
      </p:sp>
      <p:pic>
        <p:nvPicPr>
          <p:cNvPr id="6" name="Picture 5" descr="field_ma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143000"/>
            <a:ext cx="7040880" cy="2971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206240" y="4343400"/>
            <a:ext cx="704088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真實臥室校正檢查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Raw pillow MAE: T=0.8967, H=4.1286, L=358.6392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Corrected pillow MAE: T=0.1676, H=0.3939, L=21.3753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推薦動作以實測 penalty 下降作為後續驗證指標</a:t>
            </a:r>
          </a:p>
        </p:txBody>
      </p:sp>
      <p:sp>
        <p:nvSpPr>
          <p:cNvPr id="8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真實臥室快照與推薦驗證狀態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25780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E7：real-bedroom sparse calibration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Snapshot count: 28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pillow 參考點不參與 8 角點 residual fitting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Raw pillow MAE: T=0.8967, H=4.1286, L=358.6392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Corrected pillow MAE: T=0.1676, H=0.3939, L=21.3753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可主張：稀疏校正在此真實快照設定下能改善 held-out pillow 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不可主張：已完成全室 dense real-room truth 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25880"/>
            <a:ext cx="525780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E8：recommendation validation protocol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目前 rank actions 是模型反事實重跑後的 penalty reduction 排序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不可解讀為已完成實際控制有效性的因果驗證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正式驗證應執行 before/after intervention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比較 predicted improvement、actual penalty reduction 與 action rank consistency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這一點是未來工作，也是目前 claim boundary 的重點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3D 視覺化結果</a:t>
            </a:r>
          </a:p>
        </p:txBody>
      </p:sp>
      <p:pic>
        <p:nvPicPr>
          <p:cNvPr id="4" name="Picture 3" descr="all_active_temperatur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3657600" cy="4389120"/>
          </a:xfrm>
          <a:prstGeom prst="rect">
            <a:avLst/>
          </a:prstGeom>
        </p:spPr>
      </p:pic>
      <p:pic>
        <p:nvPicPr>
          <p:cNvPr id="5" name="Picture 4" descr="window_only_illuminance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371600"/>
            <a:ext cx="3657600" cy="4389120"/>
          </a:xfrm>
          <a:prstGeom prst="rect">
            <a:avLst/>
          </a:prstGeom>
        </p:spPr>
      </p:pic>
      <p:pic>
        <p:nvPicPr>
          <p:cNvPr id="6" name="Picture 5" descr="ac_only_temperature_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371600"/>
            <a:ext cx="3657600" cy="4389120"/>
          </a:xfrm>
          <a:prstGeom prst="rect">
            <a:avLst/>
          </a:prstGeom>
        </p:spPr>
      </p:pic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Hybrid Residual Neural Network 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475488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Robustness checks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Default samples: 576 / 192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Default MAE: T=0.0023, H=0.0041, L=0.1675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No-Fourier MAE: T=0.0022, H=0.0045, L=0.1675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LOO avg MAE: T=0.0017, H=0.0055, L=0.1581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LOO reduction: T 96.41%, H 96.88%, L 92.41%</a:t>
            </a:r>
          </a:p>
        </p:txBody>
      </p:sp>
      <p:pic>
        <p:nvPicPr>
          <p:cNvPr id="5" name="Picture 4" descr="field_ma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557784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416052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028"/>
                </a:solidFill>
                <a:latin typeface="Noto Sans TC"/>
              </a:defRPr>
            </a:pPr>
            <a:r>
              <a:rPr sz="1500" b="0">
                <a:solidFill>
                  <a:srgbClr val="192028"/>
                </a:solidFill>
                <a:latin typeface="Noto Sans TC"/>
              </a:rPr>
              <a:t>no-Fourier 對照顯示照度改善不是頻域處理造成</a:t>
            </a:r>
          </a:p>
          <a:p>
            <a:pPr>
              <a:spcAft>
                <a:spcPts val="800"/>
              </a:spcAft>
              <a:defRPr sz="1500">
                <a:solidFill>
                  <a:srgbClr val="192028"/>
                </a:solidFill>
                <a:latin typeface="Noto Sans TC"/>
              </a:defRPr>
            </a:pPr>
            <a:r>
              <a:rPr sz="1500" b="0">
                <a:solidFill>
                  <a:srgbClr val="192028"/>
                </a:solidFill>
                <a:latin typeface="Noto Sans TC"/>
              </a:rPr>
              <a:t>LOO 降低單一 held-out split 過度樂觀的風險</a:t>
            </a:r>
          </a:p>
          <a:p>
            <a:pPr>
              <a:spcAft>
                <a:spcPts val="800"/>
              </a:spcAft>
              <a:defRPr sz="1500">
                <a:solidFill>
                  <a:srgbClr val="192028"/>
                </a:solidFill>
                <a:latin typeface="Noto Sans TC"/>
              </a:defRPr>
            </a:pPr>
            <a:r>
              <a:rPr sz="1500" b="0">
                <a:solidFill>
                  <a:srgbClr val="192028"/>
                </a:solidFill>
                <a:latin typeface="Noto Sans TC"/>
              </a:rPr>
              <a:t>LOO 結果仍限標準情境 family，不等同任意房間泛化</a:t>
            </a:r>
          </a:p>
          <a:p>
            <a:pPr>
              <a:spcAft>
                <a:spcPts val="800"/>
              </a:spcAft>
              <a:defRPr sz="1500">
                <a:solidFill>
                  <a:srgbClr val="192028"/>
                </a:solidFill>
                <a:latin typeface="Noto Sans TC"/>
              </a:defRPr>
            </a:pPr>
            <a:r>
              <a:rPr sz="1500" b="0">
                <a:solidFill>
                  <a:srgbClr val="192028"/>
                </a:solidFill>
                <a:latin typeface="Noto Sans TC"/>
              </a:rPr>
              <a:t>真實臥室快照已驗證 calibration，推薦有效性仍需介入實驗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公開資料任務拆解：SML2010</a:t>
            </a:r>
          </a:p>
        </p:txBody>
      </p:sp>
      <p:pic>
        <p:nvPicPr>
          <p:cNvPr id="4" name="Picture 3" descr="sml2010_task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649224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80160"/>
            <a:ext cx="3977639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S1 / S2 / S3 判讀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S1：純照度短視窗，persistence 最強，是劣勢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S2：長視窗溫度有優勢，但濕度有尺度對齊問題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S3：事件 delta response 是主要優勢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SML2010 24 任務：12 lowest MAE、15 勝 LR、14 勝 persistence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不能宣稱公開資料等同 full 3D 場驗證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公開資料任務拆解：CU-BEMS</a:t>
            </a:r>
          </a:p>
        </p:txBody>
      </p:sp>
      <p:pic>
        <p:nvPicPr>
          <p:cNvPr id="4" name="Picture 3" descr="cu_bems_task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649224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280160"/>
            <a:ext cx="3977639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C1 / C2 / C3 判讀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C1：AC 溫濕度可補強 LR，但不勝 persistence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C2：商辦照度與單房間假設差距大，是劣勢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C3：compound event 可穩定勝過 LR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CU-BEMS 12 任務：9 勝 LR、0 勝 persistence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結果是 zone-level 外部壓力測試，不是 8 點房間拓樸驗證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結論、限制與未來工作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352044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結論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單房間三因子數位孿生原型已可運作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可估場、可校正、可學習、可推薦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bedroom_01 快照顯示校正後 pillow 點 MAE 明顯下降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資料比較需依任務層級切分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hybrid residual 泛化仍需更多房間與 dense ground truth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MCP 與 Web 展示已完成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25880"/>
            <a:ext cx="352044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限制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已有小型真實臥室快照，但仍缺長期 dense field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LOO hybrid 目前只支持標準情境 family 內殘差可學習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不是 CFD 等級模型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公開資料集缺乏 full-field ground truth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推薦動作尚未完成真實介入式因果驗證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25880"/>
            <a:ext cx="347472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未來工作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擴大 ESP32 長期真實資料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加入 CO2 / PM2.5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發展 multi-zone / partition model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把 CU-BEMS / SML2010 / ASHRAE 納入 task-aligned benchmark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執行推薦動作 before/after 介入驗證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朝閉環控制與遠端 MCP 延伸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公式與指標整理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352044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場模型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三因子場與查詢點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總估計式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indoor baseline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高度正規化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設備 activation 與 envelope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280160"/>
            <a:ext cx="352044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三因子公式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溫度：全室熱響應 + 局部熱場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濕度：除濕 + 外氣水氣交換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照度：直射、環境光、一次漫反射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重點是三種物理量不共用同一套 nominal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280160"/>
            <a:ext cx="347472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校正與評估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8 參數 trilinear correction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可表示空間與平滑 residual 誤差界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非連網裝置影響學習</a:t>
            </a:r>
          </a:p>
          <a:p>
            <a:pPr>
              <a:spcAft>
                <a:spcPts val="300"/>
              </a:spcAft>
              <a:defRPr sz="1300">
                <a:solidFill>
                  <a:srgbClr val="192028"/>
                </a:solidFill>
                <a:latin typeface="Noto Sans TC"/>
              </a:defRPr>
            </a:pPr>
            <a:r>
              <a:rPr sz="1300" b="0">
                <a:solidFill>
                  <a:srgbClr val="192028"/>
                </a:solidFill>
                <a:latin typeface="Noto Sans TC"/>
              </a:rPr>
              <a:t>hybrid residual、MAE/RMSE/correlation、IDW、推薦排序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1：三因子場與查詢點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場的定義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T(p,t)：位置 p、時間 t 的溫度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H(p,t)：位置 p、時間 t 的相對濕度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L(p,t)：位置 p、時間 t 的照度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p = (x,y,z)，單位為公尺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 可代表啟動後時間、情境時間或 demo 時間軸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主張邊界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本研究不是只估單一平均值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輸出是三維空間中任意點的三個環境量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8 顆角落感測器只提供稀疏觀測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其他採樣點是由模型與校正場推估出來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所以報告時要用「估計／推估」，不要說「量測到」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2：總估計式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主公式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F̂ᵥ(p,t) = Nᵥ(p,t) + Cᵥ(p,t)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v ∈ {T,H,L}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T：temperature；H：relative humidity；L：illuminance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Nᵥ：nominal model，描述主要物理趨勢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Cᵥ：8 顆角落感測器 residual 形成的校正場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為什麼這樣拆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Nᵥ 讓模型先有設備、邊界與空間結構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Cᵥ 讓模型對齊真實角落感測器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三個變數共用此估計框架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 N_T、N_H、N_L 的物理項目分開設計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這能回應「不能把同一套 bulk/local 硬套三種物理量」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3：Indoor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baseline 定義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b₀ = (T₀, H₀, L₀)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T₀：設備作用前的室內基準溫度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H₀：設備作用前的室內基準相對濕度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L₀：設備作用前的室內基準照度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若有啟動前觀測，可由 8 顆感測器平均取得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跟 baseline 比較法的差別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這裡的 baseline 是模型起始狀態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不是第 5 章的 IDW baseline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也不是公開資料集的 persistence 或 linear regression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Web demo 左側 Indoor Baseline 就是在設定 T₀/H₀/L₀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所有設備影響都是在 b₀ 上加減偏移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4：baseline 的取得方式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有啟動前觀測時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T₀ = (1/|S|)Σ_{s∈S} O_T(p_s,t_ref)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H₀ = (1/|S|)Σ_{s∈S} O_H(p_s,t_ref)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L₀ = (1/|S|)Σ_{s∈S} O_L(p_s,t_ref)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 是 8 顆角落感測器集合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t_ref 是設備尚未加入作用的參考時間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沒有啟動前觀測時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改由房間設計檔、情境設定或 demo 輸入提供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例如標準房間預設 T₀=29°C、H₀=67%、L₀=90 lux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因此 baseline 不是模型學出來的黑盒值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它是後續設備影響與 residual correction 的共同起點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報告時要明確說出資料來源是哪一種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5：高度正規化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垂直座標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ζ = z / Hᵣ - 1/2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Hᵣ：房間高度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z：查詢點高度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ζ 約落在 -0.5 到 0.5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ζ &gt; 0 表示偏上方；ζ &lt; 0 表示偏下方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為什麼需要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室內溫度與濕度可能存在垂直分層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冷空氣、熱源與混合程度會讓上下層不同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ζ 提供低成本的高度修正項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照度主要由光源幾何與遮蔽處理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所以高度不是三種變數完全相同地使用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6：設備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時間響應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Aⱼ(t) = aⱼ(1 - exp(-t/τⱼ))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j 代表某個設備，例如冷氣、窗戶或燈具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aⱼ：設備影響的穩態比例或強度尺度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τⱼ：接近穩態所需的時間常數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 越大，Aⱼ(t) 越接近 aⱼ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使用原因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設備不會在啟動瞬間把全室改變到穩態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冷氣降溫、除濕與窗戶交換都需要時間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這是一階收斂近似，計算成本低且可解釋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不是完整 HVAC transient simulation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目標是表達主要時間趨勢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7：influence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空間作用範圍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Eⱼ(p,t) = Aⱼ(t) Rⱼ(p) Dⱼ(p,t) Vⱼ(p)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Aⱼ(t)：設備目前啟動強度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Rⱼ(p)：距離衰減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Dⱼ(p,t)：方向性，例如冷氣出風或窗戶日照方向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Vⱼ(p)：可見性或遮蔽程度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距離衰減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Rⱼ(p) = exp(-||p - pⱼ|| / rⱼ)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pⱼ：設備位置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rⱼ：設備作用半徑或衰減尺度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距離越遠，局部影響越小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但全室平均項仍由各變數自己的 B 項處理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8：溫度場主式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溫度 nominal model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N_T(p,t) = T₀ + B_T(t) + S_T(p,t) + γ_T M(t) ζ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T₀：室內基準溫度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B_T(t)：全室平均熱響應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S_T(p,t)：局部空間熱響應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γ_T M(t)ζ：垂直溫度分層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使用原因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溫度受熱交換、熱源與空氣混合影響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只做局部衰減會低估冷氣的全室降溫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所以保留 B_T 表示整體室溫移動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S_T 再表達出風口、窗邊或燈具附近差異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這是控制導向 reduced-order 熱場近似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9：溫度的全室與局部項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分解式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B_T(t) = B_ac,T(t) + B_win,T(t) + B_light,T(t)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S_T(p,t) = S_ac,T(p,t) + S_win,T(p,t) + S_light,T(p,t)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B_T 負責全室平均狀態改變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S_T 負責某些位置比較強的局部差異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兩者合起來避免 local-only 或 well-mixed-only 的偏誤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三類來源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冷氣：依模式與設定溫差讓室內趨冷或趨暖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窗戶：依 T_out - T₀ 表示外氣熱交換方向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燈具：在溫度路徑中視為小型熱源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注意：燈具在溫度是熱源，在照度才是光源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這就是變數專屬公式的意義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10：冷氣溫度項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冷氣全室項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B_ac,T(t) = s_m k_ac,Tᵍ d_T P_ac A_ac(t)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s_m：冷房或暖房模式符號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k_ac,Tᵍ：冷氣對全室溫度的增益係數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d_T：設定溫度與室內基準的需求差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P_ac：校正後冷氣 power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冷氣局部項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S_ac,T(p,t) = s_m k_ac,Tˢ d_T P_ac E_ac(p,t)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k_ac,Tˢ：冷氣局部空間增益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E_ac(p,t)：出風口附近、方向與遮蔽造成的空間權重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解讀方式：B 是全室趨勢，S 是出風口附近差異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兩者不是任意疊加，而是修正 local-only 的缺陷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11：窗戶與燈具溫度項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窗戶熱交換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B_win,T(t) = k_win,Tᵍ (T_out - T₀) P_win A_win(t)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S_win,T(p,t) = k_win,Tˢ (T_out - T₀) P_win E_win(p,t)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T_out &gt; T₀ 時偏升溫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T_out &lt; T₀ 時偏降溫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P_win 表示窗戶開啟比例或校正後影響尺度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燈具熱源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B_light,T(t) = k_light,Tᵍ P_light A_light(t)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S_light,T(p,t) = k_light,Tˢ P_light E_light(p,t)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燈具在溫度模型裡只代表發熱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照明造成的 lux 變化由照度模型另外處理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這可避免把光學效果誤解成熱場效果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12：濕度場主式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濕度 nominal model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N_H(p,t) = clip[0,100]{H₀ + B_H(t) + S_H(p,t) - γ_H M(t) ζ}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H₀：室內基準相對濕度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B_H(t)：全室平均水氣或除濕響應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S_H(p,t)：局部水氣交換或除濕差異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clip[0,100]：相對濕度限制在 0% 到 100%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使用原因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相對濕度有明確物理範圍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冷氣常見效果是除濕，所以符號方向不同於溫度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窗戶則由室外濕度與室內基準濕度差決定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本研究不主張完整 psychrometric model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而是用低階水氣交換近似再由 sensor residual 校正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13：濕度來源項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全室濕度項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B_H(t) = -k_ac,Hᵍ d_H P_ac A_ac(t)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k_win,Hᵍ (H_out - H₀) P_win A_win(t)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冷氣項為負：表示除濕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窗戶項正負由 H_out - H₀ 決定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外面較濕時開窗提高濕度，較乾時降低濕度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局部濕度項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S_H(p,t) = -k_ac,Hˢ d_H P_ac E_ac(p,t)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k_win,Hˢ (H_out - H₀) P_win E_win(p,t)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E_ac 讓除濕效果在冷氣影響區附近更強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E_win 讓窗邊水氣交換較強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濕度沒有使用燈具照度那套光學公式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14：照度場主式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照度 nominal model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N_L(p,t) = max{0, L₀ + L_winᵈⁱʳ(p,t)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L_lightᵈⁱʳ(p,t) + L_winᵃᵐᵇ(p,t) + Iʳᵉᶠˡ(p,t)}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L₀：室內基準照度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max{0,...}：照度不可為負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照度由光源、窗戶、遮蔽與反射決定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為什麼不同於溫濕度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照度不是空氣混合或水氣交換問題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它更接近光線幾何與可視性問題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燈具與窗戶可造成局部高照度峰值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所以保留 direct source 與 obstruction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再用一次漫反射補足間接光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15：直射光與環境光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窗戶直射光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L_winᵈⁱʳ(p,t) = S_out d_f k_sol P_win E_win(p,t)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S_out：室外日照強度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d_f：與時間、季節或日照方向相關的折減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k_sol：窗戶日照轉換係數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E_win：窗戶到室內點的距離、方向與遮蔽權重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燈具與環境光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L_lightᵈⁱʳ(p,t) = G_light P_light E_light(p,t)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L_winᵃᵐᵇ(p,t)：窗戶帶來的擴散環境光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G_light：燈具光通量尺度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P_light：燈具啟動或校正後影響尺度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直射與環境光分開，可描述窗邊與全室背景亮度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16：一次漫反射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反射公式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Iʳᵉᶠˡ(p,t) = Σ_s ρ_s Ī_s A_sʳᵉˡ exp(-||p-c_s||/ℓ_s)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× max(0, n_s·r̂_s→p) V_s(p)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s：牆、地板、天花板或家具表面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ρ_s：表面反射率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Ī_s：表面接收到的平均照度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限制與說法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一次漫反射用來補足非直射區域的回填亮度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它不是完整 ray tracing 或 radiosity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只計算一次反射，因此成本較低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可主張改善照度主要趨勢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不能主張達到精密光學模擬等級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17：8 參數校正多項式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三線性形式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C(p) = c₀ + c₁X + c₂Y + c₃Z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c₄XY + c₅XZ + c₆YZ + c₇XYZ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X,Y,Z 是正規化房間座標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8 個係數對應 8 個角落感測器約束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比 affine 多了交互項，仍保持低階可解釋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為什麼剛好 8 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房間有地面四角與天花板四角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每個變數在同一時間有 8 個 residual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三線性校正場也有 8 個自由度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因此可由 8 個角點唯一決定此低階校正場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但不是唯一決定任意複雜真實場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18：角點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residual 定義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rᵛ_{abc}(t) = Oᵥ(p_{abc},t) - Nᵥ(p_{abc},t)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a,b,c ∈ {0,1}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p_{abc}：其中一個房間角點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Oᵥ：該角點感測器觀測值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Nᵥ：nominal model 在同一角點的預測值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直覺意義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rᵛ 是主模型在感測點的誤差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如果 rᵛ 為正，代表模型低估該角點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如果 rᵛ 為負，代表模型高估該角點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校正場 Cᵥ 的任務就是把這些角點誤差平滑帶入室內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這一步讓模型與真實稀疏感測資料對齊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19：三線性校正式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校正公式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Cᵥ(X,Y,Z,t) = Σ_{a,b,c∈{0,1}} rᵛ_{abc}(t)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× ℓ_a(X) ℓ_b(Y) ℓ_c(Z)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ℓ₀(u)=1-u，ℓ₁(u)=u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X/Y/Z 皆在 0 到 1 之間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每個內部點都是 8 個角落 residual 的加權和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重要性質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所有權重非負且總和為 1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所以這是房間內部補間，不是無限制外插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在任一角點上，對應權重為 1，其餘為 0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因此校正後感測器位置會與觀測一致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這是本研究 8 點推估最核心的數學基礎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20：校正後估計值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回到主公式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F̂ᵥ(p,t) = Nᵥ(p,t) + Cᵥ(p,t)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在角點：Cᵥ 等於觀測 residual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 F̂ᵥ(p_{abc},t) = Oᵥ(p_{abc},t)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在非角點：Cᵥ 是 8 個 residual 的三線性補間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Nᵥ 則保留設備與物理結構的空間趨勢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主張邊界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8 顆感測器不能直接量到所有點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我們證明的是三線性 residual correction 的一致性與可表示範圍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其他點是 nominal model 加上低階 residual 補間的估計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所以主張是接近主要空間趨勢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不是宣稱無條件還原任意真實室內場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21：可完全表示的 residual 空間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函數空間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𝒱 = span{1, X, Y, Z, XY, XZ, YZ, XYZ}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這個空間的維度是 8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三線性函數可由 8 個角點取值唯一決定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如果真實 residual 屬於 𝒱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則 8 個角點 residual 可完全重建整個 residual 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嚴謹主張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這不是說所有室內場都一定是三線性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而是說在三線性 residual 假設下可完全重建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對平滑但非三線性的 residual，則用誤差界描述接近程度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對突發局部熱源、光斑或遮蔽尖峰，8 點不保證捕捉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這樣的 claim boundary 比較嚴謹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22：平滑 residual 的誤差界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誤差上界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|Rᵥ(p,t) - Cᵥ(p,t)| ≤ W²M_xx/8 + L²M_yy/8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H²M_zz/8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Rᵥ：真實 residual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Cᵥ：三線性校正 residual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W/L/H：房間寬、長、高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如何解釋「接近」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M_xx/M_yy/M_zz 是 residual 二階曲率上界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曲率越小，代表 residual 越平滑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平滑時，8 點三線性補間誤差可被上界限制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所以可說「在平滑 residual 假設下接近真實情況」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不能說高頻局部變化也一定準確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23：非連網裝置影響學習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特徵向量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φᵢ = [xᵢ,yᵢ,zᵢ,tᵢ, baseline, outdoor, F_temp,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F_hum, F_illum, activations, powers, envelopes]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φᵢ 是模型已知的情境特徵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包含位置、時間、室內外條件與設備作用強度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目標是從觀測差異學出非連網設備的影響係數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標籤定義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yᵢᵛ = F_trueᵛ(pᵢ,tᵢ) - Fᵥ(pᵢ,tᵢ)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yᵢᵛ 是主模型尚未吸收的 residual target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before/after 觀測提供設備啟用造成的差異訊號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least-squares 適合小資料、可解釋且可快速重算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若多個未知事件重疊，學到的是混合效果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24：Hybrid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第二層修正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F_hybridᵛ(p,t) = Fᵥ(p,t) + Rᵥ(p,t; θᵥ)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Fᵥ：前面可解釋的 base estimator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Rᵥ：小型 neural network 預測的 residual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θᵥ：該變數 residual model 的參數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每個變數可有自己的 residual 修正器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定位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hybrid 不是取代物理模型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它只修正主模型剩下的系統性誤差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這樣可保留可解釋結構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也能用資料修正不易手刻的偏差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LOO 結果代表標準情境 family 內 residual 可學習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25：Hybrid 訓練目標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residual label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Rᵥ*(p,t) = F_trueᵛ(p,t) - Fᵥ(p,t)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F_trueᵛ：訓練或合成 truth 場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Fᵥ：base estimator 輸出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Rᵥ*：希望 neural network 學到的剩餘誤差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訓練時不是直接預測整個場，而是預測 residual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損失函數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ℒ(θᵥ) = (1/N)Σᵢ ||Rᵥ* - Rᵥ(pᵢ,tᵢ;θᵥ)||²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+ λ||θᵥ||²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第一項是 residual 預測誤差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第二項是正則化，降低過擬合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溫濕度響應較平滑可低通；照度因光源/遮蔽需保留快速跳變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26：MAE、RMSE 與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誤差指標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MAE = (1/n) Σᵢ |ŷᵢ - yᵢ|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RMSE = √[(1/n) Σᵢ (ŷᵢ - yᵢ)²]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ŷᵢ：模型估計值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yᵢ：truth 或觀測參考值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n：比較樣本數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使用原因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MAE 代表平均偏差，最直觀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RMSE 會放大尖峰或離群誤差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Correlation 用於公開資料時序任務，檢查趨勢是否同向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三者搭配可避免只看單一指標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照度量級較大，圖表常用 log-scale 避免遮蔽溫濕度差異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27：IDW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IDW 插值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IDW(p) = Σ_s w_s O_s / Σ_s w_s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w_s = 1 / (dist(p,s) + ε)^q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s：感測器索引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O_s：感測器觀測值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q：距離權重指數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為什麼拿它比較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IDW 是無設備物理先驗的幾何插值 baseline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它只知道感測器位置與距離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不知道冷氣出風、窗戶日照或燈具位置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若本研究優於 IDW，表示設備與空間結構有提供額外資訊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但 IDW 在無光源、平坦場時可能表現不差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7253D"/>
          </a:solidFill>
          <a:ln>
            <a:solidFill>
              <a:srgbClr val="17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TC"/>
              </a:rPr>
              <a:t>公式說明 28：推薦排序與驗證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3E1F1"/>
                </a:solidFill>
                <a:latin typeface="Noto Sans TC"/>
              </a:rPr>
              <a:t>公式、符號意義、限制與可主張範圍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321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推薦分數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Score(a) = P_before - P_after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Penalty 越大代表越偏離舒適目標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P_before：採取動作前的目標區域懲罰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P_after：反事實模擬動作後的懲罰</a:t>
            </a:r>
          </a:p>
          <a:p>
            <a:pPr>
              <a:spcAft>
                <a:spcPts val="300"/>
              </a:spcAft>
              <a:defRPr sz="1400">
                <a:solidFill>
                  <a:srgbClr val="192028"/>
                </a:solidFill>
                <a:latin typeface="Cambria Math"/>
              </a:defRPr>
            </a:pPr>
            <a:r>
              <a:rPr sz="1400" b="0">
                <a:solidFill>
                  <a:srgbClr val="192028"/>
                </a:solidFill>
                <a:latin typeface="Cambria Math"/>
              </a:rPr>
              <a:t>Score 越高，預期改善越大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8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05382"/>
                </a:solidFill>
                <a:latin typeface="Noto Sans TC"/>
              </a:defRPr>
            </a:pPr>
            <a:r>
              <a:rPr sz="1600" b="1">
                <a:solidFill>
                  <a:srgbClr val="005382"/>
                </a:solidFill>
                <a:latin typeface="Noto Sans TC"/>
              </a:rPr>
              <a:t>必須說清楚的限制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目前推薦排序是 counterfactual simulation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它是模型預測下的改善，不等於已證明因果效果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真正驗證需做 before/after intervention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比較實際 comfort penalty reduction 與預測改善是否一致</a:t>
            </a:r>
          </a:p>
          <a:p>
            <a:pPr>
              <a:spcAft>
                <a:spcPts val="300"/>
              </a:spcAft>
              <a:defRPr sz="1200">
                <a:solidFill>
                  <a:srgbClr val="192028"/>
                </a:solidFill>
                <a:latin typeface="Noto Sans TC"/>
              </a:defRPr>
            </a:pPr>
            <a:r>
              <a:rPr sz="1200" b="0">
                <a:solidFill>
                  <a:srgbClr val="192028"/>
                </a:solidFill>
                <a:latin typeface="Noto Sans TC"/>
              </a:rPr>
              <a:t>demo 可以呈現比較流程，但不能替代實測介入驗證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