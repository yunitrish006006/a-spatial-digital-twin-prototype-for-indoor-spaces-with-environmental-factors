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碩士論文簡報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主題：單房間三因子數位孿生、非連網裝置影響學習、工具化服務介面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報告流程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1. 問題背景與研究動機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2. 文獻定位與研究缺口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3. 系統架構與數學模型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4. 感測器校正、影響學習與 hybrid residual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5. 實作系統、驗證設計與實驗結果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6. 結論、限制、未來工作與公式整理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研究主軸與輸入輸出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1362456"/>
            <a:ext cx="10607040" cy="1463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325880"/>
            <a:ext cx="10607040" cy="1463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10607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904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研究主軸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929384"/>
            <a:ext cx="10222992" cy="694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少量角落感測 + 非連網家電 + 單房間幾何配置 → 可解釋、可校正、可學習的三因子空間場估計與決策支援。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3099816"/>
            <a:ext cx="333756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63240"/>
            <a:ext cx="333756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063240"/>
            <a:ext cx="33375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27832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666744"/>
            <a:ext cx="295351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房間尺寸、裝置/家具配置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 baseline 與外部邊界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時間、設備狀態、使用者目標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62272" y="3099816"/>
            <a:ext cx="333756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063240"/>
            <a:ext cx="333756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063240"/>
            <a:ext cx="33375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227832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3666744"/>
            <a:ext cx="295351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溫度、濕度、照度各自的 nominal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optional hybrid residual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1" y="3099816"/>
            <a:ext cx="3291840" cy="25603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3063240"/>
            <a:ext cx="3291840" cy="25603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306324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322783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3666744"/>
            <a:ext cx="2907792" cy="17922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任意點/區域三因子估計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3D 視覺化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反事實推薦排序與 MCP 查詢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研究背景與問題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房間場景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真實房間通常只有少量感測器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但使用者關心的是整個空間的舒適度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不是單一點位數值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非連網裝置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冷氣、窗戶、照明常無 API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狀態不可直接讀取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卻持續改變溫度、濕度、照度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重建全室三因子分布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 sample/cluster + 三因子目標下支援推薦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研究問題與貢獻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51206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51206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754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7365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RQ1：8 顆角落感測器能否重建單房間三因子空間場？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RQ2：能否從環境資料學習非連網裝置影響？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RQ3：sample/cluster 與三因子目標下能否排序控制動作？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RQ4：能否將模型封裝成 MCP 可查詢工具？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62456"/>
            <a:ext cx="53949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主要貢獻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929384"/>
            <a:ext cx="50109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single-room three-factor spatial digital twin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 +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non-networked appliance impact learning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+ Fourier denoising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task-aligned public benchmark strategy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/ Gemma / Web 可互動原型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文獻定位、研究缺口與比較原則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已有研究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房間尺度 IEQ 實驗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有限感測器場重建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thermal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建築 digital twin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常見不足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多只看熱環境或單雙因子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少處理非連網裝置學習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少將模型做成 AI 可查詢工具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多半不是單房間低成本原型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本研究定位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single-room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limited corner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temperature + humidity + 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control-oriented + MCP-accessible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public datasets only for aligned subtasks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整體系統架構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70401"/>
            <a:ext cx="5669280" cy="3174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圖 3-1 以 top-down tree 呈現系統責任邊界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情境與觀測層提供 room schema、8 點感測、外部邊界與時間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估測與學習層負責三因子場模型、校正、影響學習與 hybrid residual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服務與決策層暴露 scripts、Web、MCP/Gemma 與 point/zone/action 輸出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主要執行資料流</a:t>
            </a:r>
          </a:p>
        </p:txBody>
      </p:sp>
      <p:pic>
        <p:nvPicPr>
          <p:cNvPr id="5" name="Picture 4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0823"/>
            <a:ext cx="5394960" cy="298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scenario 或 direct input 先進入 service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套用 indoor baseline、裝置、家具與時間設定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再做場估測、感測器校正與 dashboard 輸出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MCP 和 Web 都走同一條執行路徑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9005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73952" y="1362456"/>
            <a:ext cx="47091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325880"/>
            <a:ext cx="47091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90472"/>
            <a:ext cx="43434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固定研究設定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1929384"/>
            <a:ext cx="43251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房間：6 × 4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感測器：floor/ceiling 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區域：window / center / door-side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核心裝置：ac_main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解析度：16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模組化裝置與家具阻擋</a:t>
            </a:r>
          </a:p>
        </p:txBody>
      </p:sp>
      <p:pic>
        <p:nvPicPr>
          <p:cNvPr id="5" name="Picture 4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81609"/>
            <a:ext cx="5394960" cy="296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冷氣、窗戶、燈都可視為模組化裝置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家具是可開關、可移動的阻擋物件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阻擋效果會依幾何位置自適應調整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Web 端可新增 custom devices 與 custom furniture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 nominal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16736"/>
            <a:ext cx="548640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54864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1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83664"/>
            <a:ext cx="510235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Nᵥ：溫度、濕度、照度各自的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溫度處理熱交換與垂直分層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濕度處理除濕與外氣水氣交換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照度處理光源幾何、遮蔽與反射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316736"/>
            <a:ext cx="475488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44751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設計理由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1883664"/>
            <a:ext cx="437083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避免只有冷氣附近變冷、全室仍近乎不變的不合理情況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版本都失敗過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避免把同一組 bulk/local 公式硬套到三種物理量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CFD 輕量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比純插值更可解釋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適合控制導向與即時服務化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方法選擇：為什麼不是純插值、純物理或純黑盒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純插值不足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只看距離與感測點數值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不知道冷氣出風口、窗戶方向、燈具位置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照度與局部熱區容易被抹平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適合作 baseline，不適合作主模型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完整物理太重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CFD / ray tracing 需要更多邊界條件與計算成本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一般房間很難取得精確材質、風場與設備曲線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本研究目標是控制導向與即時服務化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因此採 reduced-order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純黑盒風險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小資料下容易過擬合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難解釋設備、邊界與空間位置的作用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hybrid residual 只學剩餘誤差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保留主模型的可解釋結構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547" y="1005840"/>
            <a:ext cx="911214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MCP 不做預測；核心模型負責場估計、校正與排序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initialize：註冊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AC state：模式、目標溫度、風量、水平/垂直角度與擺動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sample point：補足非感測點、可指定 elapsed/steady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learn impacts：start/finish before-after record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window direct：輸入外部資料，不走 48 組 preset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rank actions：以指定座標 sample 與 T/H/L 目標評估註冊設備操作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Gemma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Gemma 透過 bridge 做 tool calling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支援來自主機與 runtime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不是宣稱模型原生支援 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時間軸與播放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裝置/家具模組化調整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estimator toggle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驗證設計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1741"/>
            <a:ext cx="5486400" cy="30002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E1-E3：truth-adjusted simulation、IDW、synthetic ablation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E4-E6：裝置影響學習、48 組 window matrix、hybrid no-Fourier/LOO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E7：bedroom_01 28 筆快照與 pillow 位置比較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E8：推薦動作 before/after intervention protocol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E9：public datasets 僅作 task-aligned benchmark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Web demo 與 3D 展示是呈現層，不列為量化實驗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證據鏈與驗證範圍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Synthetic full-field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支援完整 3D 場誤差比較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可比較 IDW、base、ablation、hybrid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限制：truth 仍來自受控生成與調整，不等同長期真實場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Real-bedroom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支援稀疏感測校正的真實點位檢查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hold-out 不參與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限制：不是 dense real-room ground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3952" y="1271016"/>
            <a:ext cx="260604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260604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34440"/>
            <a:ext cx="2606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9903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Public datasets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1837944"/>
            <a:ext cx="222199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支援相容子任務比較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/ CU-BEMS 只做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限制：缺單房間幾何與 8 點拓樸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2872" y="1271016"/>
            <a:ext cx="246888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46888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468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19" y="139903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Recommendation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837944"/>
            <a:ext cx="208483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目前可做反事實排序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E8 定義介入驗證 protocol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限制：尚未完成真實 before/after 因果驗證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情境設計與輸入模式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idle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ac_only / window_only / light_only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ac_window / window_light / ac_light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all_active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四季 × 天氣 × 時段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matrix evaluation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也支援 direct outdoor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可分析窗邊區與中心區差異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 scenario 都有 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近似一階動態收斂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端可播放到 quasi-steady state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主要量化結果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29184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290779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19856"/>
            <a:ext cx="329184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4787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圖表資料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3986784"/>
            <a:ext cx="2907792" cy="1426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scenarios, full 3D grid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Y axis: log-scale Field MAE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Bars: IDW / Base / LOO Hybrid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uses same 8 corner readings</a:t>
            </a:r>
          </a:p>
        </p:txBody>
      </p:sp>
      <p:pic>
        <p:nvPicPr>
          <p:cNvPr id="15" name="Picture 1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078" y="1143000"/>
            <a:ext cx="6213763" cy="2971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33672" y="4379976"/>
            <a:ext cx="7040880" cy="12344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343400"/>
            <a:ext cx="7040880" cy="12344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343400"/>
            <a:ext cx="7040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507992"/>
            <a:ext cx="6675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真實臥室校正檢查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946904"/>
            <a:ext cx="6656832" cy="4663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Raw pillow MAE: T=0.8967, H=4.1286, L=309.0142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Corrected pillow MAE: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推薦動作以實測 penalty 下降作為後續驗證指標</a:t>
            </a:r>
          </a:p>
        </p:txBody>
      </p:sp>
      <p:sp>
        <p:nvSpPr>
          <p:cNvPr id="2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真實臥室快照與推薦驗證狀態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E7：real-bedroom sparse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Snapshot count: 28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pillow 參考點不參與 8 角點 residual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Raw pillow MAE: T=0.8967, H=4.1286, L=309.0142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Corrected pillow MAE: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支援範圍：此快照設定下的 held-out pillow 改善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尚未完成：全室 dense real-room truth 驗證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E8：recommendation validation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 rank actions 是模型反事實重跑後的 penalty reduction 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不可解讀為已完成實際控制有效性的因果驗證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正式驗證應執行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 predicted improvement、actual penalty reduction 與 action rank consistency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此項列為未來工作與驗證限制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3D 視覺化結果</a:t>
            </a:r>
          </a:p>
        </p:txBody>
      </p:sp>
      <p:pic>
        <p:nvPicPr>
          <p:cNvPr id="5" name="Picture 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51584"/>
            <a:ext cx="3657600" cy="3629152"/>
          </a:xfrm>
          <a:prstGeom prst="rect">
            <a:avLst/>
          </a:prstGeom>
        </p:spPr>
      </p:pic>
      <p:pic>
        <p:nvPicPr>
          <p:cNvPr id="6" name="Picture 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751584"/>
            <a:ext cx="3657600" cy="3629152"/>
          </a:xfrm>
          <a:prstGeom prst="rect">
            <a:avLst/>
          </a:prstGeom>
        </p:spPr>
      </p:pic>
      <p:pic>
        <p:nvPicPr>
          <p:cNvPr id="7" name="Picture 6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751584"/>
            <a:ext cx="3657600" cy="3629152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Hybrid Residual Neural Network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475488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Robustness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37083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72208"/>
            <a:ext cx="5577840" cy="2667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no-Fourier 對照顯示照度改善不是頻域處理造成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降低單一 held-out split 過度樂觀的風險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結果仍限標準情境 family，不等同任意房間泛化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真實臥室快照已驗證 calibration，推薦有效性仍需介入實驗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公開資料任務拆解：SML2010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S1 / S2 / S3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S1：純照度短視窗，persistence 最強，是劣勢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S2：長視窗溫度有優勢，但濕度有尺度對齊問題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S3：事件 delta response 是主要優勢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24 任務：12 lowest MAE、15 勝 LR、14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不能宣稱公開資料等同 full 3D 場驗證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公開資料任務拆解：CU-BEMS</a:t>
            </a:r>
          </a:p>
        </p:txBody>
      </p:sp>
      <p:pic>
        <p:nvPicPr>
          <p:cNvPr id="5" name="Picture 4" descr="cu_bems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C1 / C2 / C3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C1：AC 溫濕度可補強 LR，但不勝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C2：商辦照度與單房間假設差距大，是劣勢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C3：compound event 可穩定勝過 LR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CU-BEMS 12 任務：9 勝 LR、0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結果是 zone-level 外部壓力測試，不是 8 點房間拓樸驗證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結論、限制與未來工作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單房間三因子數位孿生原型已可運作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可估場、可校正、可學習、可推薦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快照顯示校正後 pillow 點 MAE 明顯下降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資料比較需依任務層級切分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hybrid residual 泛化仍需更多房間與 dense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與 Web 展示已完成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已有小型真實臥室快照，但仍缺長期 dense field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hybrid 目前只支持標準情境 family 內殘差可學習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不是 CFD 等級模型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公開資料集缺乏 full-field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推薦動作尚未完成真實介入式因果驗證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 ESP32 長期真實資料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加入 CO2 / PM2.5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發展 multi-zone / partition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把 CU-BEMS / SML2010 / ASHRAE 納入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朝閉環控制與遠端 MCP 延伸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公式與指標整理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三因子場與查詢點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總估計式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indoor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高度正規化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設備 activation 與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三因子公式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溫度：全室熱響應 + 局部熱場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濕度：除濕 + 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重點是三種物理量不共用同一套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校正與評估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參數 trilinear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可表示空間與平滑 residual 誤差界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residual、MAE/RMSE/correlation、IDW、推薦排序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θᵥ：該變數 residual model 的參數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每個變數可有自己的 residual 修正器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它只修正主模型剩下的系統性誤差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這樣可保留可解釋結構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也能用資料修正不易手刻的偏差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