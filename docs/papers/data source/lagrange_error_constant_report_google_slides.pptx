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Table 2：誤差常數上下界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下界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π/6</c:v>
                </c:pt>
                <c:pt idx="1">
                  <c:v>π/4</c:v>
                </c:pt>
                <c:pt idx="2">
                  <c:v>π/3</c:v>
                </c:pt>
                <c:pt idx="3">
                  <c:v>π/2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0.31511</c:v>
                </c:pt>
                <c:pt idx="1">
                  <c:v>0.26777</c:v>
                </c:pt>
                <c:pt idx="2">
                  <c:v>0.25209</c:v>
                </c:pt>
                <c:pt idx="3">
                  <c:v>0.40432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上界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π/6</c:v>
                </c:pt>
                <c:pt idx="1">
                  <c:v>π/4</c:v>
                </c:pt>
                <c:pt idx="2">
                  <c:v>π/3</c:v>
                </c:pt>
                <c:pt idx="3">
                  <c:v>π/2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0.31799</c:v>
                </c:pt>
                <c:pt idx="1">
                  <c:v>0.27146</c:v>
                </c:pt>
                <c:pt idx="2">
                  <c:v>0.25439</c:v>
                </c:pt>
                <c:pt idx="3">
                  <c:v>0.41596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45"/>
          <c:min val="0.2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30352"/>
            <a:ext cx="2468880" cy="365760"/>
          </a:xfrm>
          <a:prstGeom prst="roundRect">
            <a:avLst/>
          </a:prstGeom>
          <a:solidFill>
            <a:srgbClr val="E5EFFC"/>
          </a:solidFill>
          <a:ln>
            <a:solidFill>
              <a:srgbClr val="2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500" b="1">
                <a:solidFill>
                  <a:srgbClr val="14233E"/>
                </a:solidFill>
                <a:latin typeface="Noto Sans TC"/>
              </a:defRPr>
            </a:pPr>
            <a:r>
              <a:t>論文報告｜一小時版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78638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14233E"/>
                </a:solidFill>
                <a:latin typeface="Noto Sans TC"/>
              </a:defRPr>
            </a:pPr>
            <a:r>
              <a:t>最大範數下線性 Lagrange 插值</a:t>
            </a:r>
            <a:br/>
            <a:r>
              <a:t>誤差常數估計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697480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D6776"/>
                </a:solidFill>
                <a:latin typeface="Arial"/>
              </a:defRPr>
            </a:pPr>
            <a:r>
              <a:t>Error-constant estimation under the maximum norm for linear Lagrange interpolation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55049.6" y="2898648.0"/>
            <a:ext cx="2040940.8000000007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138513.6" y="1396288.8"/>
            <a:ext cx="1757476.8000000007" cy="1502359.2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855049.6" y="1396288.8"/>
            <a:ext cx="283464.0" cy="1502359.2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804757" y="2848356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609" y="2971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1" name="Oval 10"/>
          <p:cNvSpPr/>
          <p:nvPr/>
        </p:nvSpPr>
        <p:spPr>
          <a:xfrm>
            <a:off x="10845698" y="2848356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4550" y="2971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13" name="Oval 12"/>
          <p:cNvSpPr/>
          <p:nvPr/>
        </p:nvSpPr>
        <p:spPr>
          <a:xfrm>
            <a:off x="9088221" y="1345996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7073" y="146944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8827" y="2074773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41648"/>
            <a:ext cx="2834640" cy="713232"/>
          </a:xfrm>
          <a:prstGeom prst="roundRect">
            <a:avLst/>
          </a:prstGeom>
          <a:solidFill>
            <a:srgbClr val="E2F5F4"/>
          </a:solidFill>
          <a:ln>
            <a:solidFill>
              <a:srgbClr val="2D8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核心結果</a:t>
            </a:r>
            <a:br/>
            <a:r>
              <a:t>0.40432 ≤ Cᴸ ≤ 0.41596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4041648"/>
            <a:ext cx="2743200" cy="713232"/>
          </a:xfrm>
          <a:prstGeom prst="roundRect">
            <a:avLst/>
          </a:prstGeom>
          <a:solidFill>
            <a:srgbClr val="E5EFFC"/>
          </a:solidFill>
          <a:ln>
            <a:solidFill>
              <a:srgbClr val="2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方法</a:t>
            </a:r>
            <a:br/>
            <a:r>
              <a:t>FEM + Bernstein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041648"/>
            <a:ext cx="2743200" cy="713232"/>
          </a:xfrm>
          <a:prstGeom prst="roundRect">
            <a:avLst/>
          </a:prstGeom>
          <a:solidFill>
            <a:srgbClr val="FCEFE5"/>
          </a:solidFill>
          <a:ln>
            <a:solidFill>
              <a:srgbClr val="D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時間</a:t>
            </a:r>
            <a:br/>
            <a:r>
              <a:t>≤ 60 分鐘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4184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0">
                <a:solidFill>
                  <a:srgbClr val="5D6776"/>
                </a:solidFill>
                <a:latin typeface="Arial"/>
              </a:defRPr>
            </a:pPr>
            <a:r>
              <a:t>Galindo, Ike &amp; Liu, Journal of Inequalities and Applications, 2022:109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Top-down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報告架構：先答案，再拆方法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794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defRPr sz="1800" b="0">
                <a:solidFill>
                  <a:srgbClr val="1F2632"/>
                </a:solidFill>
                <a:latin typeface="Noto Sans TC"/>
              </a:defRPr>
            </a:pPr>
            <a:r>
              <a:t>主線問題</a:t>
            </a:r>
            <a:br/>
            <a:br/>
            <a:r>
              <a:t>1. 這篇論文要保證什麼誤差？</a:t>
            </a:r>
            <a:br/>
            <a:br/>
            <a:r>
              <a:t>2. 為什麼 L∞ 最大範數特別難？</a:t>
            </a:r>
            <a:br/>
            <a:br/>
            <a:r>
              <a:t>3. FEM、Fujino–Morley 與 Bernstein 如何合作？</a:t>
            </a:r>
            <a:br/>
            <a:br/>
            <a:r>
              <a:t>4. 數值結果如何解讀？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53327" y="1773936"/>
            <a:ext cx="91441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79208" y="1773936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05088" y="1773936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30967" y="1773936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92040" y="141732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背景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10 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定義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8 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1732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方法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20 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41732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計算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12 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59" y="1417320"/>
            <a:ext cx="11430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結論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8 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834640"/>
            <a:ext cx="6309360" cy="1143000"/>
          </a:xfrm>
          <a:prstGeom prst="roundRect">
            <a:avLst/>
          </a:prstGeom>
          <a:solidFill>
            <a:srgbClr val="EDF5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2100" b="1">
                <a:solidFill>
                  <a:srgbClr val="14233E"/>
                </a:solidFill>
                <a:latin typeface="Noto Sans TC"/>
              </a:defRPr>
            </a:pPr>
            <a:r>
              <a:t>今天只需抓住一個核心：</a:t>
            </a:r>
            <a:br/>
            <a:r>
              <a:t>把「無限多函數中的最壞誤差」轉成「有限維矩陣最佳化」。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370832"/>
            <a:ext cx="6309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800" b="1">
                <a:solidFill>
                  <a:srgbClr val="2A5B95"/>
                </a:solidFill>
                <a:latin typeface="Noto Sans TC"/>
              </a:defRPr>
            </a:pPr>
            <a:r>
              <a:t>報告節奏：主講約 58 分鐘，最後保留 Q&amp;A。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直觀問題：用平面近似曲面，最大誤差是多少？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62913.2000000002" y="3301669.8"/>
            <a:ext cx="1826971.1999999997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47495.2000000002" y="2826867.6"/>
            <a:ext cx="1217980.7999999998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2077.2" y="2352065.4"/>
            <a:ext cx="608990.4000000001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87321.6" y="2352065.4"/>
            <a:ext cx="253745.99999999953" cy="1424406.6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96312.0" y="2826867.6"/>
            <a:ext cx="169164.0" cy="949604.3999999999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105302.4" y="3301669.8"/>
            <a:ext cx="84581.99999999953" cy="474802.2000000002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78331.2000000002" y="3776472.0"/>
            <a:ext cx="2435961.5999999996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616659.2" y="1877263.2"/>
            <a:ext cx="2097633.5999999996" cy="1899208.8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278331.2000000002" y="1877263.2"/>
            <a:ext cx="338327.99999999977" cy="1899208.8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228039" y="3726180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6891" y="384962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8" name="Oval 17"/>
          <p:cNvSpPr/>
          <p:nvPr/>
        </p:nvSpPr>
        <p:spPr>
          <a:xfrm>
            <a:off x="3664000" y="3726180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2852" y="384962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0" name="Oval 19"/>
          <p:cNvSpPr/>
          <p:nvPr/>
        </p:nvSpPr>
        <p:spPr>
          <a:xfrm>
            <a:off x="1566367" y="1826971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5219" y="1950415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8646" y="273497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triangle 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188720"/>
            <a:ext cx="31546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D8689"/>
                </a:solidFill>
                <a:latin typeface="Noto Sans TC"/>
              </a:defRPr>
            </a:pPr>
            <a:r>
              <a:t>線性 Lagrange 插值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在三角形三個頂點取函數值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用一個線性函數通過三點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比較原函數 u 與 Πᴸu 的差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188720"/>
            <a:ext cx="315468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D57A44"/>
                </a:solidFill>
                <a:latin typeface="Noto Sans TC"/>
              </a:defRPr>
            </a:pPr>
            <a:r>
              <a:t>最大範數 L∞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不是平均誤差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看整個三角形上的最壞點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適合做保守誤差保證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892040"/>
            <a:ext cx="9418320" cy="786384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2100" b="1">
                <a:solidFill>
                  <a:srgbClr val="14233E"/>
                </a:solidFill>
                <a:latin typeface="Arial"/>
              </a:defRPr>
            </a:pPr>
            <a:r>
              <a:t>||u − Πᴸu||∞,K  ≤  Cᴸ(K) |u|₂,K</a:t>
            </a:r>
          </a:p>
          <a:p>
            <a:pPr algn="ctr">
              <a:defRPr sz="950" b="0">
                <a:solidFill>
                  <a:srgbClr val="5D6776"/>
                </a:solidFill>
                <a:latin typeface="Noto Sans TC"/>
              </a:defRPr>
            </a:pPr>
            <a:r>
              <a:t>Cᴸ(K) 就是本文要估計的誤差常數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論文貢獻：把難解的最壞誤差變成可算的嚴格界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A5B95"/>
                </a:solidFill>
                <a:latin typeface="Noto Sans TC"/>
              </a:defRPr>
            </a:pPr>
            <a:r>
              <a:t>問題層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估計 Cᴸ(K)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誤差量：L∞ 最大範數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控制量：H² 半範數，反映曲率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D8689"/>
                </a:solidFill>
                <a:latin typeface="Noto Sans TC"/>
              </a:defRPr>
            </a:pPr>
            <a:r>
              <a:t>方法層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FEM 離散化函數空間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Fujino–Morley 提供正交分解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Bernstein 凸包性質處理最大值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D57A44"/>
                </a:solidFill>
                <a:latin typeface="Noto Sans TC"/>
              </a:defRPr>
            </a:pPr>
            <a:r>
              <a:t>結果層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多種三角形的上下界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等腰直角三角形：0.40432 ≤ Cᴸ ≤ 0.41596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相對誤差小，可支援 FEM 誤差控制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數學定義：Cᴸ(K) 是最壞比例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188720"/>
            <a:ext cx="507492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850" b="1">
                <a:solidFill>
                  <a:srgbClr val="14233E"/>
                </a:solidFill>
                <a:latin typeface="Arial"/>
              </a:defRPr>
            </a:pPr>
            <a:r>
              <a:t>Cᴸ(K) = sup  ||u − Πᴸu||∞,K / |u|₂,K</a:t>
            </a:r>
          </a:p>
          <a:p>
            <a:pPr algn="ctr">
              <a:defRPr sz="950" b="0">
                <a:solidFill>
                  <a:srgbClr val="5D6776"/>
                </a:solidFill>
                <a:latin typeface="Noto Sans TC"/>
              </a:defRPr>
            </a:pPr>
            <a:r>
              <a:t>在所有 u∈H²(K) 中取最壞情況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074920" cy="914400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850" b="1">
                <a:solidFill>
                  <a:srgbClr val="14233E"/>
                </a:solidFill>
                <a:latin typeface="Arial"/>
              </a:defRPr>
            </a:pPr>
            <a:r>
              <a:t>λ(K) = inf  |u|²₂,K / ||u||²∞,K</a:t>
            </a:r>
          </a:p>
          <a:p>
            <a:pPr algn="ctr">
              <a:defRPr sz="950" b="0">
                <a:solidFill>
                  <a:srgbClr val="5D6776"/>
                </a:solidFill>
                <a:latin typeface="Noto Sans TC"/>
              </a:defRPr>
            </a:pPr>
            <a:r>
              <a:t>等價形式：Cᴸ(K)=1/√λ(K)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5074920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4A8955"/>
                </a:solidFill>
                <a:latin typeface="Noto Sans TC"/>
              </a:defRPr>
            </a:pPr>
            <a:r>
              <a:t>為什麼轉成 λ？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Cᴸ 是誤差常數；λ 是能量比例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λ 越大，Cᴸ = 1/√λ 越小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估計 λ 的下界，可推得 Cᴸ 的上界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5074920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AE4C49"/>
                </a:solidFill>
                <a:latin typeface="Noto Sans TC"/>
              </a:defRPr>
            </a:pPr>
            <a:r>
              <a:t>困難在哪裡？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最大值可能在三角形任意位置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L∞ 約束不是簡單線性條件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直接在 H²(K) 上求解不可行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Warm-up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暖身示範：一維案例讓誤差常數變直觀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defRPr sz="1820" b="0">
                <a:solidFill>
                  <a:srgbClr val="1F2632"/>
                </a:solidFill>
                <a:latin typeface="Noto Sans TC"/>
              </a:defRPr>
            </a:pPr>
            <a:r>
              <a:t>取 u(x)=x²，x∈[0,1]</a:t>
            </a:r>
            <a:br/>
            <a:br/>
            <a:r>
              <a:t>端點值：u(0)=0, u(1)=1</a:t>
            </a:r>
            <a:br/>
            <a:br/>
            <a:r>
              <a:t>線性插值：Πᴸu(x)=x</a:t>
            </a:r>
            <a:br/>
            <a:br/>
            <a:r>
              <a:t>誤差：u−Πᴸu=x²−x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298448"/>
            <a:ext cx="3017520" cy="676656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800" b="1">
                <a:solidFill>
                  <a:srgbClr val="14233E"/>
                </a:solidFill>
                <a:latin typeface="Arial"/>
              </a:defRPr>
            </a:pPr>
            <a:r>
              <a:t>max |x² − x| = 1/4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240280"/>
            <a:ext cx="3017520" cy="676656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800" b="1">
                <a:solidFill>
                  <a:srgbClr val="14233E"/>
                </a:solidFill>
                <a:latin typeface="Arial"/>
              </a:defRPr>
            </a:pPr>
            <a:r>
              <a:t>||u″||∞ =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182112"/>
            <a:ext cx="3017520" cy="676656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800" b="1">
                <a:solidFill>
                  <a:srgbClr val="14233E"/>
                </a:solidFill>
                <a:latin typeface="Arial"/>
              </a:defRPr>
            </a:pPr>
            <a:r>
              <a:t>(1/4) / 2 = 1/8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0175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D8689"/>
                </a:solidFill>
                <a:latin typeface="Noto Sans TC"/>
              </a:defRPr>
            </a:pPr>
            <a:r>
              <a:t>這個例子說明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常數是「最壞比例」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二維三角形是同一想法的高階版本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本文改用 H² 半範數控制 L∞ 誤差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Method 1: FEM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第一個工具：FEM 將函數問題離散成矩陣問題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5768" y="196596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10328" y="196596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196596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99448" y="196596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150876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原始問題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u∈H²(K)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50876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剖分 K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小三角形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50876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FM 空間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VhFM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50876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矩陣 A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xᵀAx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50876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可計算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有限維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246120"/>
            <a:ext cx="5029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A5B95"/>
                </a:solidFill>
                <a:latin typeface="Noto Sans TC"/>
              </a:defRPr>
            </a:pPr>
            <a:r>
              <a:t>Fujino–Morley 空間的角色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用分片二次多項式近似誤差函數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利用插值條件與正交分解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把 H² 能量寫成矩陣二次型 xᵀAx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46120"/>
            <a:ext cx="50292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D57A44"/>
                </a:solidFill>
                <a:latin typeface="Noto Sans TC"/>
              </a:defRPr>
            </a:pPr>
            <a:r>
              <a:t>直觀理解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原本要在所有曲面中找最壞者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現在改在有限個基底係數中搜尋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 b="0">
                <a:solidFill>
                  <a:srgbClr val="1F2632"/>
                </a:solidFill>
                <a:latin typeface="Noto Sans TC"/>
              </a:defRPr>
            </a:pPr>
            <a:r>
              <a:t>• 網格細化後上下界會更接近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Method 2: Bernstein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第二個工具：Bernstein 凸包性質處理最大範數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143000"/>
            <a:ext cx="4846320" cy="749808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p = Σ dᵢⱼₖ Jᵢⱼₖ⁽ⁿ⁾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39696"/>
            <a:ext cx="4846320" cy="749808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Jᵢⱼₖ ≥ 0,    ΣJᵢⱼₖ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36392"/>
            <a:ext cx="4846320" cy="749808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||p||∞,K ≤ max |dᵢⱼₖ|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4903.0" y="2925622.8"/>
            <a:ext cx="2098548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22058.0" y="2486253.6"/>
            <a:ext cx="1399032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19213.0" y="2046884.4"/>
            <a:ext cx="699516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827264.0" y="2046884.4"/>
            <a:ext cx="291465.0" cy="1318107.6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526780.0" y="2486253.6"/>
            <a:ext cx="194310.0" cy="878738.3999999999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226296.0" y="2925622.8"/>
            <a:ext cx="97155.0" cy="439369.2000000002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27748.0" y="3364992.0"/>
            <a:ext cx="2798064.0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516368.0" y="1607515.2"/>
            <a:ext cx="2409444.0" cy="1757476.8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127748.0" y="1607515.2"/>
            <a:ext cx="388620.0" cy="1757476.8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077456" y="3314700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6308" y="343814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Oval 20"/>
          <p:cNvSpPr/>
          <p:nvPr/>
        </p:nvSpPr>
        <p:spPr>
          <a:xfrm>
            <a:off x="9875520" y="3314700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4372" y="343814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3" name="Oval 22"/>
          <p:cNvSpPr/>
          <p:nvPr/>
        </p:nvSpPr>
        <p:spPr>
          <a:xfrm>
            <a:off x="7466076" y="1557223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8" y="1680667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401214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control 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976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820" b="1">
                <a:solidFill>
                  <a:srgbClr val="14233E"/>
                </a:solidFill>
                <a:latin typeface="Noto Sans TC"/>
              </a:defRPr>
            </a:pPr>
            <a:r>
              <a:t>直觀：函數值可視為控制點係數的加權平均。</a:t>
            </a:r>
            <a:br/>
            <a:r>
              <a:t>所以「找函數最大值」可改成「檢查控制點係數」。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演算法核心：由 λ 的下界推得 Cᴸ 的上界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15768" y="178308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10328" y="178308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178308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99448" y="1783080"/>
            <a:ext cx="91440" cy="0"/>
          </a:xfrm>
          <a:prstGeom prst="line">
            <a:avLst/>
          </a:prstGeom>
          <a:ln w="15240">
            <a:solidFill>
              <a:srgbClr val="5D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建立 VhFM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基底 φᵢ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組裝 A,B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能量與控制點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放寬限制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||Bx||∞ ≥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計算 λh,B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矩陣公式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32588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 wrap="square"/>
          <a:lstStyle/>
          <a:p>
            <a:pPr algn="ctr">
              <a:defRPr sz="1450" b="1">
                <a:solidFill>
                  <a:srgbClr val="2A5B95"/>
                </a:solidFill>
                <a:latin typeface="Noto Sans TC"/>
              </a:defRPr>
            </a:pPr>
            <a:r>
              <a:t>轉回 Cᴸ</a:t>
            </a:r>
          </a:p>
          <a:p>
            <a:pPr algn="ctr">
              <a:defRPr sz="1050" b="0">
                <a:solidFill>
                  <a:srgbClr val="1F2632"/>
                </a:solidFill>
                <a:latin typeface="Noto Sans TC"/>
              </a:defRPr>
            </a:pPr>
            <a:r>
              <a:t>1/√λ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017520"/>
            <a:ext cx="480060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750" b="1">
                <a:solidFill>
                  <a:srgbClr val="14233E"/>
                </a:solidFill>
                <a:latin typeface="Arial"/>
              </a:defRPr>
            </a:pPr>
            <a:r>
              <a:t>λh,B = min xᵀAx,  s.t. ||Bx||∞ ≥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17520"/>
            <a:ext cx="4754880" cy="777240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750" b="1">
                <a:solidFill>
                  <a:srgbClr val="14233E"/>
                </a:solidFill>
                <a:latin typeface="Arial"/>
              </a:defRPr>
            </a:pPr>
            <a:r>
              <a:t>D = BA⁻¹Bᵀ,   λh,B = 1 / max diag(D)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389120"/>
            <a:ext cx="10149840" cy="822960"/>
          </a:xfrm>
          <a:prstGeom prst="roundRect">
            <a:avLst/>
          </a:prstGeom>
          <a:solidFill>
            <a:srgbClr val="EDF5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2000" b="1">
                <a:solidFill>
                  <a:srgbClr val="14233E"/>
                </a:solidFill>
                <a:latin typeface="Noto Sans TC"/>
              </a:defRPr>
            </a:pPr>
            <a:r>
              <a:t>方向要抓清楚：λ 的下界越大，Cᴸ = 1/√λ 的上界越小，誤差保證就越銳利。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示範計算：等腰直角三角形的上界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88720"/>
            <a:ext cx="379476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defRPr sz="1800" b="0">
                <a:solidFill>
                  <a:srgbClr val="1F2632"/>
                </a:solidFill>
                <a:latin typeface="Noto Sans TC"/>
              </a:defRPr>
            </a:pPr>
            <a:r>
              <a:t>已知條件</a:t>
            </a:r>
            <a:br/>
            <a:br/>
            <a:r>
              <a:t>三角形：K₁,π/2</a:t>
            </a:r>
            <a:br/>
            <a:r>
              <a:t>單位等腰直角三角形</a:t>
            </a:r>
            <a:br/>
            <a:br/>
            <a:r>
              <a:t>Table 2 給出：λh,B = 5.7812</a:t>
            </a:r>
            <a:br/>
            <a:br/>
            <a:r>
              <a:t>關係式：Cᴸ = 1 / √λ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1188720"/>
            <a:ext cx="5989320" cy="713232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Cᴸ ≤ 1 / √5.7812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2103120"/>
            <a:ext cx="5989320" cy="713232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√5.7812 ≈ 2.4044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3017520"/>
            <a:ext cx="5989320" cy="713232"/>
          </a:xfrm>
          <a:prstGeom prst="roundRect">
            <a:avLst/>
          </a:prstGeom>
          <a:solidFill>
            <a:srgbClr val="EFF4FA"/>
          </a:solidFill>
          <a:ln>
            <a:solidFill>
              <a:srgbClr val="C3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defRPr sz="1900" b="1">
                <a:solidFill>
                  <a:srgbClr val="14233E"/>
                </a:solidFill>
                <a:latin typeface="Arial"/>
              </a:defRPr>
            </a:pPr>
            <a:r>
              <a:t>1 / 2.4044 ≈ 0.41596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2880360" cy="658368"/>
          </a:xfrm>
          <a:prstGeom prst="roundRect">
            <a:avLst/>
          </a:prstGeom>
          <a:solidFill>
            <a:srgbClr val="E8F5EB"/>
          </a:solidFill>
          <a:ln>
            <a:solidFill>
              <a:srgbClr val="4A8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下界</a:t>
            </a:r>
            <a:br/>
            <a:r>
              <a:t>0.40432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754880"/>
            <a:ext cx="2880360" cy="658368"/>
          </a:xfrm>
          <a:prstGeom prst="roundRect">
            <a:avLst/>
          </a:prstGeom>
          <a:solidFill>
            <a:srgbClr val="E5EFFC"/>
          </a:solidFill>
          <a:ln>
            <a:solidFill>
              <a:srgbClr val="2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真值區間</a:t>
            </a:r>
            <a:br/>
            <a:r>
              <a:t>0.40432–0.41596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754880"/>
            <a:ext cx="2880360" cy="658368"/>
          </a:xfrm>
          <a:prstGeom prst="roundRect">
            <a:avLst/>
          </a:prstGeom>
          <a:solidFill>
            <a:srgbClr val="FCEFE5"/>
          </a:solidFill>
          <a:ln>
            <a:solidFill>
              <a:srgbClr val="D5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上界</a:t>
            </a:r>
            <a:br/>
            <a:r>
              <a:t>0.41596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Numerical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數值結果：不同角度三角形的上下界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5440680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34440"/>
                <a:gridCol w="1234440"/>
                <a:gridCol w="1234440"/>
              </a:tblGrid>
              <a:tr h="654710"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4233E"/>
                          </a:solidFill>
                          <a:latin typeface="Noto Sans TC"/>
                        </a:rPr>
                        <a:t>最大角 θ</a:t>
                      </a:r>
                    </a:p>
                  </a:txBody>
                  <a:tcPr marL="36576" marR="36576" marT="36576" marB="36576">
                    <a:solidFill>
                      <a:srgbClr val="E5EF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4233E"/>
                          </a:solidFill>
                          <a:latin typeface="Arial"/>
                        </a:rPr>
                        <a:t>Cᴸ 下界</a:t>
                      </a:r>
                    </a:p>
                  </a:txBody>
                  <a:tcPr marL="36576" marR="36576" marT="36576" marB="36576">
                    <a:solidFill>
                      <a:srgbClr val="E5EF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4233E"/>
                          </a:solidFill>
                          <a:latin typeface="Arial"/>
                        </a:rPr>
                        <a:t>λh,B</a:t>
                      </a:r>
                    </a:p>
                  </a:txBody>
                  <a:tcPr marL="36576" marR="36576" marT="36576" marB="36576">
                    <a:solidFill>
                      <a:srgbClr val="E5EF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50" b="1">
                          <a:solidFill>
                            <a:srgbClr val="14233E"/>
                          </a:solidFill>
                          <a:latin typeface="Arial"/>
                        </a:rPr>
                        <a:t>Cᴸ 上界</a:t>
                      </a:r>
                    </a:p>
                  </a:txBody>
                  <a:tcPr marL="36576" marR="36576" marT="36576" marB="36576">
                    <a:solidFill>
                      <a:srgbClr val="E5EFFC"/>
                    </a:solidFill>
                  </a:tcPr>
                </a:tc>
              </a:tr>
              <a:tr h="654710"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Noto Sans TC"/>
                        </a:rPr>
                        <a:t>π/6  (30°)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0.31511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9.8925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0.31799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Noto Sans TC"/>
                        </a:rPr>
                        <a:t>π/4  (45°)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0.26777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13.574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0.27146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Noto Sans TC"/>
                        </a:rPr>
                        <a:t>π/3  (60°)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0.25209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15.457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0.25439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654712"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Noto Sans TC"/>
                        </a:rPr>
                        <a:t>π/2  (90°)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0.40432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5.7812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F2632"/>
                          </a:solidFill>
                          <a:latin typeface="Arial"/>
                        </a:rPr>
                        <a:t>0.41596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46520" y="1051560"/>
          <a:ext cx="5029200" cy="35478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4983480"/>
            <a:ext cx="103327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820" b="1">
                <a:solidFill>
                  <a:srgbClr val="14233E"/>
                </a:solidFill>
                <a:latin typeface="Noto Sans TC"/>
              </a:defRPr>
            </a:pPr>
            <a:r>
              <a:t>觀察：θ=π/3 附近常數較小；θ=π/2 的常數明顯較大。三角形形狀會直接影響最大範數誤差保證。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形狀影響：三角形退化時常數可能變大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05306.0" y="2840126.4"/>
            <a:ext cx="1728216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85316.0" y="2443276.8"/>
            <a:ext cx="1152144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5326.0" y="2046427.2000000002"/>
            <a:ext cx="576072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01368.0" y="2046427.2000000002"/>
            <a:ext cx="240030.0" cy="1190548.7999999998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377440.0" y="2443276.8"/>
            <a:ext cx="160020.0" cy="793699.2000000002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53512.0" y="2840126.4"/>
            <a:ext cx="80010.0" cy="396849.6000000001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25296.0" y="3236976.0"/>
            <a:ext cx="2304288.0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1545336.0" y="1649577.6"/>
            <a:ext cx="1984248.0" cy="1587398.4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225296.0" y="1649577.6"/>
            <a:ext cx="320040.0" cy="1587398.4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175004" y="3186684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3101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8" name="Oval 17"/>
          <p:cNvSpPr/>
          <p:nvPr/>
        </p:nvSpPr>
        <p:spPr>
          <a:xfrm>
            <a:off x="3479292" y="3186684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33101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0" name="Oval 19"/>
          <p:cNvSpPr/>
          <p:nvPr/>
        </p:nvSpPr>
        <p:spPr>
          <a:xfrm>
            <a:off x="1495044" y="1599285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53896" y="1722729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2366467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regular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08626.0" y="2840126.4"/>
            <a:ext cx="1728216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88636.0" y="2443276.8"/>
            <a:ext cx="1152144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8646.0" y="2046427.2000000002"/>
            <a:ext cx="576072.0" cy="0.0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04688.0" y="2046427.2000000002"/>
            <a:ext cx="240030.0" cy="1190548.7999999998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080760.0" y="2443276.8"/>
            <a:ext cx="160020.0" cy="793699.2000000002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56832.0" y="2840126.4"/>
            <a:ext cx="80010.0" cy="396849.6000000001"/>
          </a:xfrm>
          <a:prstGeom prst="line">
            <a:avLst/>
          </a:prstGeom>
          <a:ln w="8890">
            <a:solidFill>
              <a:srgbClr val="AAB9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28616.0" y="3236976.0"/>
            <a:ext cx="2304288.0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248656.0" y="1649577.6"/>
            <a:ext cx="1984248.0" cy="1587398.4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928616.0" y="1649577.6"/>
            <a:ext cx="320040.0" cy="1587398.4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878324" y="3186684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7176" y="33101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4" name="Oval 33"/>
          <p:cNvSpPr/>
          <p:nvPr/>
        </p:nvSpPr>
        <p:spPr>
          <a:xfrm>
            <a:off x="7182612" y="3186684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41464" y="33101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6" name="Oval 35"/>
          <p:cNvSpPr/>
          <p:nvPr/>
        </p:nvSpPr>
        <p:spPr>
          <a:xfrm>
            <a:off x="5198364" y="1599285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57216" y="1722729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2366467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right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71332.0" y="3146450.4"/>
            <a:ext cx="2522829.5999999996" cy="0.0"/>
          </a:xfrm>
          <a:prstGeom prst="line">
            <a:avLst/>
          </a:prstGeom>
          <a:ln w="27940">
            <a:solidFill>
              <a:srgbClr val="AE4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739835.2" y="2773375.2"/>
            <a:ext cx="2154326.4000000004" cy="373075.1999999997"/>
          </a:xfrm>
          <a:prstGeom prst="line">
            <a:avLst/>
          </a:prstGeom>
          <a:ln w="27940">
            <a:solidFill>
              <a:srgbClr val="AE4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371332.0" y="2773375.2"/>
            <a:ext cx="368503.19999999925" cy="373075.1999999997"/>
          </a:xfrm>
          <a:prstGeom prst="line">
            <a:avLst/>
          </a:prstGeom>
          <a:ln w="27940">
            <a:solidFill>
              <a:srgbClr val="AE4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778240" y="338328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E4C49"/>
                </a:solidFill>
                <a:latin typeface="Arial"/>
              </a:defRPr>
            </a:pPr>
            <a:r>
              <a:t>degenerate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4069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A5B95"/>
                </a:solidFill>
                <a:latin typeface="Noto Sans TC"/>
              </a:defRPr>
            </a:pPr>
            <a:r>
              <a:t>形狀正則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00" b="0">
                <a:solidFill>
                  <a:srgbClr val="1F2632"/>
                </a:solidFill>
                <a:latin typeface="Noto Sans TC"/>
              </a:defRPr>
            </a:pPr>
            <a:r>
              <a:t>• 最小角不太小，常數有界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62272" y="4069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D8689"/>
                </a:solidFill>
                <a:latin typeface="Noto Sans TC"/>
              </a:defRPr>
            </a:pPr>
            <a:r>
              <a:t>直角案例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00" b="0">
                <a:solidFill>
                  <a:srgbClr val="1F2632"/>
                </a:solidFill>
                <a:latin typeface="Noto Sans TC"/>
              </a:defRPr>
            </a:pPr>
            <a:r>
              <a:t>• 可取得銳利上下界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1583" y="4069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AE4C49"/>
                </a:solidFill>
                <a:latin typeface="Noto Sans TC"/>
              </a:defRPr>
            </a:pPr>
            <a:r>
              <a:t>退化案例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00" b="0">
                <a:solidFill>
                  <a:srgbClr val="1F2632"/>
                </a:solidFill>
                <a:latin typeface="Noto Sans TC"/>
              </a:defRPr>
            </a:pPr>
            <a:r>
              <a:t>• 角度或邊長退化時，Cᴸ 可能趨近無窮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結果解讀：這些數字在 FEM 中代表什麼？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A5B95"/>
                </a:solidFill>
                <a:latin typeface="Noto Sans TC"/>
              </a:defRPr>
            </a:pPr>
            <a:r>
              <a:t>對數值分析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提供最大範數下的明確誤差常數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可支援逐點誤差估計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比只知道收斂階數更具體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2D8689"/>
                </a:solidFill>
                <a:latin typeface="Noto Sans TC"/>
              </a:defRPr>
            </a:pPr>
            <a:r>
              <a:t>對網格設計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三角形形狀會影響常數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形狀正則性仍是核心條件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角度與長寬比會影響最壞誤差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55864" y="11887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defRPr sz="1800" b="1">
                <a:solidFill>
                  <a:srgbClr val="D57A44"/>
                </a:solidFill>
                <a:latin typeface="Noto Sans TC"/>
              </a:defRPr>
            </a:pPr>
            <a:r>
              <a:t>對方法論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FEM + Bernstein 是可移植策略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適合處理最大範數限制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650" b="0">
                <a:solidFill>
                  <a:srgbClr val="1F2632"/>
                </a:solidFill>
                <a:latin typeface="Noto Sans TC"/>
              </a:defRPr>
            </a:pPr>
            <a:r>
              <a:t>• 可延伸到高階插值或 PDE 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7432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5B95"/>
                </a:solidFill>
                <a:latin typeface="Noto Sans TC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512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33E"/>
                </a:solidFill>
                <a:latin typeface="Noto Sans TC"/>
              </a:defRPr>
            </a:pPr>
            <a:r>
              <a:t>結論：三句話總結這篇論文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4864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D677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234440"/>
            <a:ext cx="10241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920" b="1">
                <a:solidFill>
                  <a:srgbClr val="14233E"/>
                </a:solidFill>
                <a:latin typeface="Noto Sans TC"/>
              </a:defRPr>
            </a:pPr>
            <a:r>
              <a:t>1｜研究問題：估計三角形上線性 Lagrange 插值的 L∞ 誤差常數 Cᴸ(K)。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59152"/>
            <a:ext cx="10241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920" b="1">
                <a:solidFill>
                  <a:srgbClr val="14233E"/>
                </a:solidFill>
                <a:latin typeface="Noto Sans TC"/>
              </a:defRPr>
            </a:pPr>
            <a:r>
              <a:t>2｜技術核心：用 Fujino–Morley FEM 離散化，再用 Bernstein 凸包性質處理最大範數約束。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483864"/>
            <a:ext cx="10241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920" b="1">
                <a:solidFill>
                  <a:srgbClr val="14233E"/>
                </a:solidFill>
                <a:latin typeface="Noto Sans TC"/>
              </a:defRPr>
            </a:pPr>
            <a:r>
              <a:t>3｜代表結果：單位等腰直角三角形滿足 0.40432 ≤ Cᴸ(K) ≤ 0.41596。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892040"/>
            <a:ext cx="10241280" cy="658368"/>
          </a:xfrm>
          <a:prstGeom prst="roundRect">
            <a:avLst/>
          </a:prstGeom>
          <a:solidFill>
            <a:srgbClr val="EDF5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 bIns="146304" wrap="square"/>
          <a:lstStyle/>
          <a:p>
            <a:pPr algn="ctr">
              <a:defRPr sz="1920" b="1">
                <a:solidFill>
                  <a:srgbClr val="2A5B95"/>
                </a:solidFill>
                <a:latin typeface="Noto Sans TC"/>
              </a:defRPr>
            </a:pPr>
            <a:r>
              <a:t>Takeaway：這是一個把「最大誤差保證」做成可計算、可驗證數值界的研究。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051560"/>
            <a:ext cx="102412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4233E"/>
                </a:solidFill>
                <a:latin typeface="Noto Sans TC"/>
              </a:defRPr>
            </a:pPr>
            <a:r>
              <a:t>謝謝聆聽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2084831"/>
            <a:ext cx="9692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5D6776"/>
                </a:solidFill>
                <a:latin typeface="Noto Sans TC"/>
              </a:defRPr>
            </a:pPr>
            <a:r>
              <a:t>Q&amp;A：λ 與 Cᴸ 的關係、Bernstein 放寬的銳利度、FEM 誤差估計應用。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703320"/>
            <a:ext cx="2971800" cy="713232"/>
          </a:xfrm>
          <a:prstGeom prst="roundRect">
            <a:avLst/>
          </a:prstGeom>
          <a:solidFill>
            <a:srgbClr val="E5EFFC"/>
          </a:solidFill>
          <a:ln>
            <a:solidFill>
              <a:srgbClr val="2A5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關鍵公式</a:t>
            </a:r>
            <a:br/>
            <a:r>
              <a:t>Cᴸ = 1/√λ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703320"/>
            <a:ext cx="2971800" cy="713232"/>
          </a:xfrm>
          <a:prstGeom prst="roundRect">
            <a:avLst/>
          </a:prstGeom>
          <a:solidFill>
            <a:srgbClr val="E2F5F4"/>
          </a:solidFill>
          <a:ln>
            <a:solidFill>
              <a:srgbClr val="2D86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64008" bIns="64008" wrap="square"/>
          <a:lstStyle/>
          <a:p>
            <a:pPr algn="ctr">
              <a:defRPr sz="1700" b="1">
                <a:solidFill>
                  <a:srgbClr val="14233E"/>
                </a:solidFill>
                <a:latin typeface="Noto Sans TC"/>
              </a:defRPr>
            </a:pPr>
            <a:r>
              <a:t>關鍵工具</a:t>
            </a:r>
            <a:br/>
            <a:r>
              <a:t>Bernstein 凸包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32850.4" y="4809744.0"/>
            <a:ext cx="2073859.1999999993" cy="0.0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8920886.4" y="3420770.4"/>
            <a:ext cx="1785823.1999999993" cy="1388973.6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632850.4" y="3420770.4"/>
            <a:ext cx="288036.0" cy="1388973.6"/>
          </a:xfrm>
          <a:prstGeom prst="line">
            <a:avLst/>
          </a:prstGeom>
          <a:ln w="27940">
            <a:solidFill>
              <a:srgbClr val="2A5B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582558" y="4759452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1410" y="488289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0656417" y="4759452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15269" y="4882896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8870594" y="3370478"/>
            <a:ext cx="100584" cy="100584"/>
          </a:xfrm>
          <a:prstGeom prst="ellipse">
            <a:avLst/>
          </a:prstGeom>
          <a:solidFill>
            <a:srgbClr val="D5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9446" y="349392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5D6776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2172" y="404804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E"/>
                </a:solidFill>
                <a:latin typeface="Arial"/>
              </a:defRPr>
            </a:pPr>
            <a:r>
              <a:t>Cᴸ(K)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6446520"/>
            <a:ext cx="10972800" cy="10972"/>
          </a:xfrm>
          <a:prstGeom prst="rect">
            <a:avLst/>
          </a:prstGeom>
          <a:solidFill>
            <a:srgbClr val="D2D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19672"/>
            <a:ext cx="9509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" b="0">
                <a:solidFill>
                  <a:srgbClr val="5D6776"/>
                </a:solidFill>
                <a:latin typeface="Arial"/>
              </a:defRPr>
            </a:pPr>
            <a:r>
              <a:t>Galindo, Ike &amp; Liu (2022)｜Maximum-norm error constant for linear Lagrange interpolation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0">
                <a:solidFill>
                  <a:srgbClr val="5D6776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